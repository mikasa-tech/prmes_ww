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301" r:id="rId2"/>
    <p:sldId id="291" r:id="rId3"/>
    <p:sldId id="274" r:id="rId4"/>
    <p:sldId id="284" r:id="rId5"/>
    <p:sldId id="285" r:id="rId6"/>
    <p:sldId id="286" r:id="rId7"/>
    <p:sldId id="287" r:id="rId8"/>
    <p:sldId id="288" r:id="rId9"/>
    <p:sldId id="290" r:id="rId10"/>
    <p:sldId id="275" r:id="rId11"/>
    <p:sldId id="280" r:id="rId12"/>
    <p:sldId id="289" r:id="rId13"/>
    <p:sldId id="281" r:id="rId14"/>
    <p:sldId id="271" r:id="rId15"/>
    <p:sldId id="268" r:id="rId16"/>
    <p:sldId id="269" r:id="rId17"/>
    <p:sldId id="270" r:id="rId18"/>
    <p:sldId id="297" r:id="rId19"/>
    <p:sldId id="292" r:id="rId20"/>
    <p:sldId id="294" r:id="rId21"/>
    <p:sldId id="295" r:id="rId22"/>
    <p:sldId id="296" r:id="rId23"/>
    <p:sldId id="298" r:id="rId24"/>
    <p:sldId id="299" r:id="rId25"/>
    <p:sldId id="283" r:id="rId26"/>
    <p:sldId id="267" r:id="rId27"/>
    <p:sldId id="300" r:id="rId28"/>
  </p:sldIdLst>
  <p:sldSz cx="14630400" cy="8229600"/>
  <p:notesSz cx="8229600" cy="14630400"/>
  <p:embeddedFontLst>
    <p:embeddedFont>
      <p:font typeface="Times New Roman Bold" panose="02020803070505020304" pitchFamily="18" charset="0"/>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551DCE-9AA5-4BDA-BB0A-16C18A9D842F}" v="15" dt="2026-01-09T07:21:29.3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animathpati97@gmail.com" userId="732f7a05136b9fb7" providerId="LiveId" clId="{57F22CB4-6514-4848-BF0D-5B6AB01B67D8}"/>
    <pc:docChg chg="modSld">
      <pc:chgData name="bhavanimathpati97@gmail.com" userId="732f7a05136b9fb7" providerId="LiveId" clId="{57F22CB4-6514-4848-BF0D-5B6AB01B67D8}" dt="2026-01-09T08:31:08.460" v="2" actId="20577"/>
      <pc:docMkLst>
        <pc:docMk/>
      </pc:docMkLst>
      <pc:sldChg chg="modSp mod">
        <pc:chgData name="bhavanimathpati97@gmail.com" userId="732f7a05136b9fb7" providerId="LiveId" clId="{57F22CB4-6514-4848-BF0D-5B6AB01B67D8}" dt="2026-01-09T08:30:16.815" v="0" actId="20577"/>
        <pc:sldMkLst>
          <pc:docMk/>
          <pc:sldMk cId="4227562338" sldId="274"/>
        </pc:sldMkLst>
        <pc:spChg chg="mod">
          <ac:chgData name="bhavanimathpati97@gmail.com" userId="732f7a05136b9fb7" providerId="LiveId" clId="{57F22CB4-6514-4848-BF0D-5B6AB01B67D8}" dt="2026-01-09T08:30:16.815" v="0" actId="20577"/>
          <ac:spMkLst>
            <pc:docMk/>
            <pc:sldMk cId="4227562338" sldId="274"/>
            <ac:spMk id="2" creationId="{77D81BF4-D0AE-AA1A-DB11-061F9D810C0B}"/>
          </ac:spMkLst>
        </pc:spChg>
      </pc:sldChg>
      <pc:sldChg chg="modSp mod">
        <pc:chgData name="bhavanimathpati97@gmail.com" userId="732f7a05136b9fb7" providerId="LiveId" clId="{57F22CB4-6514-4848-BF0D-5B6AB01B67D8}" dt="2026-01-09T08:31:08.460" v="2" actId="20577"/>
        <pc:sldMkLst>
          <pc:docMk/>
          <pc:sldMk cId="1807472564" sldId="280"/>
        </pc:sldMkLst>
        <pc:spChg chg="mod">
          <ac:chgData name="bhavanimathpati97@gmail.com" userId="732f7a05136b9fb7" providerId="LiveId" clId="{57F22CB4-6514-4848-BF0D-5B6AB01B67D8}" dt="2026-01-09T08:31:08.460" v="2" actId="20577"/>
          <ac:spMkLst>
            <pc:docMk/>
            <pc:sldMk cId="1807472564" sldId="280"/>
            <ac:spMk id="5" creationId="{1B901E30-A66E-2ABE-4D50-C87FE004D4C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3627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dirty="0"/>
          </a:p>
        </p:txBody>
      </p:sp>
    </p:spTree>
    <p:extLst>
      <p:ext uri="{BB962C8B-B14F-4D97-AF65-F5344CB8AC3E}">
        <p14:creationId xmlns:p14="http://schemas.microsoft.com/office/powerpoint/2010/main" val="1761124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a:p>
        </p:txBody>
      </p:sp>
    </p:spTree>
    <p:extLst>
      <p:ext uri="{BB962C8B-B14F-4D97-AF65-F5344CB8AC3E}">
        <p14:creationId xmlns:p14="http://schemas.microsoft.com/office/powerpoint/2010/main" val="36340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a:p>
        </p:txBody>
      </p:sp>
    </p:spTree>
    <p:extLst>
      <p:ext uri="{BB962C8B-B14F-4D97-AF65-F5344CB8AC3E}">
        <p14:creationId xmlns:p14="http://schemas.microsoft.com/office/powerpoint/2010/main" val="3519214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a:p>
        </p:txBody>
      </p:sp>
    </p:spTree>
    <p:extLst>
      <p:ext uri="{BB962C8B-B14F-4D97-AF65-F5344CB8AC3E}">
        <p14:creationId xmlns:p14="http://schemas.microsoft.com/office/powerpoint/2010/main" val="144779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a:p>
        </p:txBody>
      </p:sp>
    </p:spTree>
    <p:extLst>
      <p:ext uri="{BB962C8B-B14F-4D97-AF65-F5344CB8AC3E}">
        <p14:creationId xmlns:p14="http://schemas.microsoft.com/office/powerpoint/2010/main" val="3510287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C84DA7-8768-499E-8FB7-3871B9D19619}"/>
              </a:ext>
            </a:extLst>
          </p:cNvPr>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a:extLst>
              <a:ext uri="{FF2B5EF4-FFF2-40B4-BE49-F238E27FC236}">
                <a16:creationId xmlns:a16="http://schemas.microsoft.com/office/drawing/2014/main" id="{537F594A-2883-1531-2048-15B4EBBC4D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36BFA2-0828-B08D-22E5-913C596877A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4090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9099" y="2838517"/>
            <a:ext cx="12327123" cy="1025922"/>
          </a:xfrm>
          <a:prstGeom prst="rect">
            <a:avLst/>
          </a:prstGeom>
        </p:spPr>
        <p:txBody>
          <a:bodyPr lIns="0" tIns="0" rIns="0" bIns="0" rtlCol="0" anchor="t">
            <a:spAutoFit/>
          </a:bodyPr>
          <a:lstStyle/>
          <a:p>
            <a:pPr algn="ctr">
              <a:lnSpc>
                <a:spcPts val="4031"/>
              </a:lnSpc>
            </a:pPr>
            <a:r>
              <a:rPr lang="en-US" sz="3360" dirty="0">
                <a:solidFill>
                  <a:srgbClr val="FF0000"/>
                </a:solidFill>
                <a:latin typeface="Times New Roman" panose="02020603050405020304" pitchFamily="18" charset="0"/>
                <a:cs typeface="Times New Roman" panose="02020603050405020304" pitchFamily="18" charset="0"/>
              </a:rPr>
              <a:t>“Academic Project Management and Evaluation System for NBA-Accredited, VTU-Affiliated Institutions”</a:t>
            </a:r>
            <a:endParaRPr lang="en-US" sz="3360" dirty="0">
              <a:solidFill>
                <a:srgbClr val="FF0000"/>
              </a:solidFill>
              <a:highlight>
                <a:srgbClr val="FF0000"/>
              </a:highlight>
              <a:latin typeface="Times New Roman" panose="02020603050405020304" pitchFamily="18" charset="0"/>
              <a:cs typeface="Times New Roman" panose="02020603050405020304" pitchFamily="18" charset="0"/>
            </a:endParaRPr>
          </a:p>
        </p:txBody>
      </p:sp>
      <p:sp>
        <p:nvSpPr>
          <p:cNvPr id="4" name="TextBox 4"/>
          <p:cNvSpPr txBox="1"/>
          <p:nvPr/>
        </p:nvSpPr>
        <p:spPr>
          <a:xfrm>
            <a:off x="1562723" y="3237879"/>
            <a:ext cx="11387265" cy="5046318"/>
          </a:xfrm>
          <a:prstGeom prst="rect">
            <a:avLst/>
          </a:prstGeom>
        </p:spPr>
        <p:txBody>
          <a:bodyPr wrap="square" lIns="0" tIns="0" rIns="0" bIns="0" rtlCol="0" anchor="t">
            <a:spAutoFit/>
          </a:bodyPr>
          <a:lstStyle/>
          <a:p>
            <a:pPr algn="ctr">
              <a:lnSpc>
                <a:spcPts val="4354"/>
              </a:lnSpc>
            </a:pPr>
            <a:endParaRPr lang="en-US" sz="2560" dirty="0">
              <a:solidFill>
                <a:srgbClr val="002060"/>
              </a:solidFill>
              <a:latin typeface="Times New Roman Bold"/>
            </a:endParaRPr>
          </a:p>
          <a:p>
            <a:pPr>
              <a:lnSpc>
                <a:spcPts val="4354"/>
              </a:lnSpc>
            </a:pPr>
            <a:r>
              <a:rPr lang="en-US" sz="3629" dirty="0">
                <a:solidFill>
                  <a:srgbClr val="002060"/>
                </a:solidFill>
                <a:latin typeface="Times New Roman Bold"/>
              </a:rPr>
              <a:t>                                        </a:t>
            </a:r>
            <a:r>
              <a:rPr lang="en-US" sz="2560" dirty="0">
                <a:solidFill>
                  <a:srgbClr val="002060"/>
                </a:solidFill>
                <a:latin typeface="Times New Roman Bold"/>
              </a:rPr>
              <a:t>Team Members:</a:t>
            </a:r>
          </a:p>
          <a:p>
            <a:pPr algn="ctr">
              <a:lnSpc>
                <a:spcPts val="4354"/>
              </a:lnSpc>
            </a:pPr>
            <a:r>
              <a:rPr lang="en-US" sz="2560" dirty="0">
                <a:solidFill>
                  <a:srgbClr val="C00000"/>
                </a:solidFill>
                <a:latin typeface="Times New Roman Bold"/>
              </a:rPr>
              <a:t>  Bhavani(3GN22CS021)</a:t>
            </a:r>
          </a:p>
          <a:p>
            <a:pPr algn="ctr">
              <a:lnSpc>
                <a:spcPts val="4354"/>
              </a:lnSpc>
            </a:pPr>
            <a:r>
              <a:rPr lang="en-US" sz="2560" dirty="0">
                <a:solidFill>
                  <a:srgbClr val="C00000"/>
                </a:solidFill>
                <a:latin typeface="Times New Roman Bold"/>
              </a:rPr>
              <a:t>Neha(3GN22CS058) </a:t>
            </a:r>
          </a:p>
          <a:p>
            <a:pPr algn="ctr">
              <a:lnSpc>
                <a:spcPts val="4354"/>
              </a:lnSpc>
            </a:pPr>
            <a:r>
              <a:rPr lang="en-US" sz="2560" dirty="0">
                <a:solidFill>
                  <a:srgbClr val="C00000"/>
                </a:solidFill>
                <a:latin typeface="Times New Roman Bold"/>
              </a:rPr>
              <a:t>Bhagyashri(3GN22CS017)</a:t>
            </a:r>
          </a:p>
          <a:p>
            <a:pPr algn="ctr">
              <a:lnSpc>
                <a:spcPts val="4354"/>
              </a:lnSpc>
            </a:pPr>
            <a:r>
              <a:rPr lang="en-US" sz="2560" dirty="0">
                <a:solidFill>
                  <a:srgbClr val="C00000"/>
                </a:solidFill>
                <a:latin typeface="Times New Roman Bold"/>
              </a:rPr>
              <a:t>Ashwini(3GN23CS401)</a:t>
            </a:r>
          </a:p>
          <a:p>
            <a:pPr algn="ctr">
              <a:lnSpc>
                <a:spcPts val="4354"/>
              </a:lnSpc>
            </a:pPr>
            <a:r>
              <a:rPr lang="en-US" sz="2560" dirty="0">
                <a:solidFill>
                  <a:srgbClr val="002060"/>
                </a:solidFill>
                <a:latin typeface="Times New Roman Bold"/>
              </a:rPr>
              <a:t>Under the Guidance of : </a:t>
            </a:r>
            <a:r>
              <a:rPr lang="en-US" sz="2560" dirty="0" err="1">
                <a:solidFill>
                  <a:srgbClr val="002060"/>
                </a:solidFill>
                <a:latin typeface="Times New Roman Bold"/>
              </a:rPr>
              <a:t>Prof.Sandeep</a:t>
            </a:r>
            <a:r>
              <a:rPr lang="en-US" sz="2560" dirty="0">
                <a:solidFill>
                  <a:srgbClr val="002060"/>
                </a:solidFill>
                <a:latin typeface="Times New Roman Bold"/>
              </a:rPr>
              <a:t> Iddalgave</a:t>
            </a:r>
          </a:p>
          <a:p>
            <a:pPr algn="ctr">
              <a:lnSpc>
                <a:spcPts val="4354"/>
              </a:lnSpc>
            </a:pPr>
            <a:endParaRPr lang="en-US" sz="2560" dirty="0">
              <a:solidFill>
                <a:srgbClr val="002060"/>
              </a:solidFill>
              <a:latin typeface="Times New Roman Bold"/>
            </a:endParaRPr>
          </a:p>
          <a:p>
            <a:pPr>
              <a:lnSpc>
                <a:spcPts val="4354"/>
              </a:lnSpc>
            </a:pPr>
            <a:endParaRPr lang="en-US" sz="3629" dirty="0">
              <a:solidFill>
                <a:schemeClr val="bg1"/>
              </a:solidFill>
              <a:latin typeface="Times New Roman Bold"/>
            </a:endParaRPr>
          </a:p>
        </p:txBody>
      </p:sp>
      <p:pic>
        <p:nvPicPr>
          <p:cNvPr id="6" name="Picture 5">
            <a:extLst>
              <a:ext uri="{FF2B5EF4-FFF2-40B4-BE49-F238E27FC236}">
                <a16:creationId xmlns:a16="http://schemas.microsoft.com/office/drawing/2014/main" id="{25F7C953-4260-4968-85BD-89C4EC9AF9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393" y="0"/>
            <a:ext cx="12672594" cy="1704083"/>
          </a:xfrm>
          <a:prstGeom prst="rect">
            <a:avLst/>
          </a:prstGeom>
        </p:spPr>
      </p:pic>
      <p:sp>
        <p:nvSpPr>
          <p:cNvPr id="8" name="TextBox 3">
            <a:extLst>
              <a:ext uri="{FF2B5EF4-FFF2-40B4-BE49-F238E27FC236}">
                <a16:creationId xmlns:a16="http://schemas.microsoft.com/office/drawing/2014/main" id="{C0805CC2-2791-456E-813B-CBCBB5C92BE4}"/>
              </a:ext>
            </a:extLst>
          </p:cNvPr>
          <p:cNvSpPr txBox="1"/>
          <p:nvPr/>
        </p:nvSpPr>
        <p:spPr>
          <a:xfrm>
            <a:off x="834815" y="1981963"/>
            <a:ext cx="12327123" cy="512961"/>
          </a:xfrm>
          <a:prstGeom prst="rect">
            <a:avLst/>
          </a:prstGeom>
        </p:spPr>
        <p:txBody>
          <a:bodyPr lIns="0" tIns="0" rIns="0" bIns="0" rtlCol="0" anchor="t">
            <a:spAutoFit/>
          </a:bodyPr>
          <a:lstStyle/>
          <a:p>
            <a:pPr algn="ctr">
              <a:lnSpc>
                <a:spcPts val="4031"/>
              </a:lnSpc>
            </a:pPr>
            <a:r>
              <a:rPr lang="en-US" sz="3359" dirty="0">
                <a:solidFill>
                  <a:srgbClr val="002060"/>
                </a:solidFill>
                <a:latin typeface="Times New Roman Bold"/>
              </a:rPr>
              <a:t>Department of Computer Science &amp; Engineering</a:t>
            </a:r>
          </a:p>
        </p:txBody>
      </p:sp>
      <p:pic>
        <p:nvPicPr>
          <p:cNvPr id="1026" name="Picture 2" descr="Govt. Engg. College, Trichur">
            <a:extLst>
              <a:ext uri="{FF2B5EF4-FFF2-40B4-BE49-F238E27FC236}">
                <a16:creationId xmlns:a16="http://schemas.microsoft.com/office/drawing/2014/main" id="{9DEBA7D6-52C6-4D96-8E42-7FDCE15481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28326" y="282916"/>
            <a:ext cx="1299075" cy="1299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A08B2A-D189-82E5-E544-888C49F16385}"/>
              </a:ext>
            </a:extLst>
          </p:cNvPr>
          <p:cNvSpPr txBox="1"/>
          <p:nvPr/>
        </p:nvSpPr>
        <p:spPr>
          <a:xfrm>
            <a:off x="496389" y="483326"/>
            <a:ext cx="13546182" cy="7442935"/>
          </a:xfrm>
          <a:prstGeom prst="rect">
            <a:avLst/>
          </a:prstGeom>
          <a:noFill/>
        </p:spPr>
        <p:txBody>
          <a:bodyPr wrap="square" rtlCol="0">
            <a:spAutoFit/>
          </a:bodyPr>
          <a:lstStyle/>
          <a:p>
            <a:pPr>
              <a:lnSpc>
                <a:spcPct val="150000"/>
              </a:lnSpc>
            </a:pPr>
            <a:r>
              <a:rPr lang="en-US" sz="3200" b="1" dirty="0">
                <a:solidFill>
                  <a:schemeClr val="bg1"/>
                </a:solidFill>
              </a:rPr>
              <a:t>Introduction </a:t>
            </a:r>
          </a:p>
          <a:p>
            <a:r>
              <a:rPr lang="en-US" sz="2800" dirty="0">
                <a:solidFill>
                  <a:schemeClr val="bg1"/>
                </a:solidFill>
              </a:rPr>
              <a:t>Final-year project evaluation in VTU-affiliated and NBA-accredited institutions involves multiple phases, evaluators, and assessment criteria. When handled manually, this process often leads to inconsistent marking, data redundancy, difficulty in tracking evaluation records, and challenges in generating standardized reports for accreditation purposes.</a:t>
            </a:r>
          </a:p>
          <a:p>
            <a:endParaRPr lang="en-US" sz="2800" dirty="0">
              <a:solidFill>
                <a:schemeClr val="bg1"/>
              </a:solidFill>
            </a:endParaRPr>
          </a:p>
          <a:p>
            <a:r>
              <a:rPr lang="en-US" sz="2800" dirty="0">
                <a:solidFill>
                  <a:schemeClr val="bg1"/>
                </a:solidFill>
              </a:rPr>
              <a:t>The </a:t>
            </a:r>
            <a:r>
              <a:rPr lang="en-US" sz="2800" b="1" dirty="0">
                <a:solidFill>
                  <a:schemeClr val="bg1"/>
                </a:solidFill>
              </a:rPr>
              <a:t>Academic Project Management and Evaluation System for NBA-Accredited, VTU-Affiliated Institutions</a:t>
            </a:r>
            <a:r>
              <a:rPr lang="en-US" sz="2800" dirty="0">
                <a:solidFill>
                  <a:schemeClr val="bg1"/>
                </a:solidFill>
              </a:rPr>
              <a:t> focuses on streamlining the project evaluation process through a centralized, relational database system. It supports structured multi-phase evaluation tracking, automated aggregation of marks from multiple evaluators, and dynamic ingestion of evaluation data to reduce manual effort and errors.</a:t>
            </a:r>
          </a:p>
          <a:p>
            <a:r>
              <a:rPr lang="en-US" sz="2800" dirty="0">
                <a:solidFill>
                  <a:schemeClr val="bg1"/>
                </a:solidFill>
              </a:rPr>
              <a:t>The system also provides multi-view dashboards for clear visualization of evaluation results, ensures data integrity and scalability, and enables efficient generation of NBA/NAAC-compliant audit reports. This approach improves transparency, accuracy, and efficiency in academic project evaluation.</a:t>
            </a:r>
          </a:p>
          <a:p>
            <a:pPr>
              <a:lnSpc>
                <a:spcPct val="150000"/>
              </a:lnSpc>
            </a:pPr>
            <a:endParaRPr lang="en-IN" sz="2800" dirty="0">
              <a:solidFill>
                <a:schemeClr val="bg1"/>
              </a:solidFill>
            </a:endParaRPr>
          </a:p>
        </p:txBody>
      </p:sp>
      <p:pic>
        <p:nvPicPr>
          <p:cNvPr id="3" name="Picture 2">
            <a:extLst>
              <a:ext uri="{FF2B5EF4-FFF2-40B4-BE49-F238E27FC236}">
                <a16:creationId xmlns:a16="http://schemas.microsoft.com/office/drawing/2014/main" id="{9B1D7D2F-334B-BD79-648A-361842C5E8F4}"/>
              </a:ext>
            </a:extLst>
          </p:cNvPr>
          <p:cNvPicPr>
            <a:picLocks noChangeAspect="1"/>
          </p:cNvPicPr>
          <p:nvPr/>
        </p:nvPicPr>
        <p:blipFill>
          <a:blip r:embed="rId3"/>
          <a:stretch>
            <a:fillRect/>
          </a:stretch>
        </p:blipFill>
        <p:spPr>
          <a:xfrm>
            <a:off x="12100341" y="7671331"/>
            <a:ext cx="2530059" cy="426609"/>
          </a:xfrm>
          <a:prstGeom prst="rect">
            <a:avLst/>
          </a:prstGeom>
        </p:spPr>
      </p:pic>
    </p:spTree>
    <p:extLst>
      <p:ext uri="{BB962C8B-B14F-4D97-AF65-F5344CB8AC3E}">
        <p14:creationId xmlns:p14="http://schemas.microsoft.com/office/powerpoint/2010/main" val="412637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A50E81-201C-FC5C-5B5F-55F9385E68CB}"/>
              </a:ext>
            </a:extLst>
          </p:cNvPr>
          <p:cNvSpPr txBox="1"/>
          <p:nvPr/>
        </p:nvSpPr>
        <p:spPr>
          <a:xfrm>
            <a:off x="192505" y="740676"/>
            <a:ext cx="14221327" cy="4031873"/>
          </a:xfrm>
          <a:prstGeom prst="rect">
            <a:avLst/>
          </a:prstGeom>
          <a:noFill/>
        </p:spPr>
        <p:txBody>
          <a:bodyPr wrap="square">
            <a:spAutoFit/>
          </a:bodyPr>
          <a:lstStyle/>
          <a:p>
            <a:pPr>
              <a:buNone/>
            </a:pPr>
            <a:r>
              <a:rPr lang="en-US" sz="3200" b="1">
                <a:solidFill>
                  <a:schemeClr val="bg1"/>
                </a:solidFill>
              </a:rPr>
              <a:t>Problem Statement:</a:t>
            </a:r>
            <a:br>
              <a:rPr lang="en-US" sz="3200">
                <a:solidFill>
                  <a:schemeClr val="bg1"/>
                </a:solidFill>
              </a:rPr>
            </a:br>
            <a:endParaRPr lang="en-US" sz="3200">
              <a:solidFill>
                <a:schemeClr val="bg1"/>
              </a:solidFill>
            </a:endParaRPr>
          </a:p>
          <a:p>
            <a:pPr>
              <a:buNone/>
            </a:pPr>
            <a:r>
              <a:rPr lang="en-US" sz="2800">
                <a:solidFill>
                  <a:schemeClr val="bg1"/>
                </a:solidFill>
              </a:rPr>
              <a:t>In academic institutions, the manual process of project allocation and evaluation often leads to mismatches between student interests and faculty expertise, repetition of project topics, and inefficient tracking of progress.</a:t>
            </a:r>
          </a:p>
          <a:p>
            <a:pPr>
              <a:buNone/>
            </a:pPr>
            <a:endParaRPr lang="en-US" sz="2800" b="1">
              <a:solidFill>
                <a:schemeClr val="bg1"/>
              </a:solidFill>
            </a:endParaRPr>
          </a:p>
          <a:p>
            <a:pPr>
              <a:buNone/>
            </a:pPr>
            <a:r>
              <a:rPr lang="en-US" sz="3000" b="1">
                <a:solidFill>
                  <a:schemeClr val="bg1"/>
                </a:solidFill>
              </a:rPr>
              <a:t>Key Issues:</a:t>
            </a:r>
            <a:endParaRPr lang="en-US" sz="3000">
              <a:solidFill>
                <a:schemeClr val="bg1"/>
              </a:solidFill>
            </a:endParaRPr>
          </a:p>
          <a:p>
            <a:pPr>
              <a:buFont typeface="Arial" panose="020B0604020202020204" pitchFamily="34" charset="0"/>
              <a:buChar char="•"/>
            </a:pPr>
            <a:endParaRPr lang="en-US" sz="2200">
              <a:solidFill>
                <a:schemeClr val="bg1"/>
              </a:solidFill>
            </a:endParaRPr>
          </a:p>
          <a:p>
            <a:pPr>
              <a:buFont typeface="Arial" panose="020B0604020202020204" pitchFamily="34" charset="0"/>
              <a:buChar char="•"/>
            </a:pPr>
            <a:endParaRPr lang="en-US" sz="2800">
              <a:solidFill>
                <a:schemeClr val="bg1"/>
              </a:solidFill>
            </a:endParaRPr>
          </a:p>
        </p:txBody>
      </p:sp>
      <p:pic>
        <p:nvPicPr>
          <p:cNvPr id="4" name="Picture 3">
            <a:extLst>
              <a:ext uri="{FF2B5EF4-FFF2-40B4-BE49-F238E27FC236}">
                <a16:creationId xmlns:a16="http://schemas.microsoft.com/office/drawing/2014/main" id="{C0DC713A-7E1B-0BA8-F7A0-079F38435D7E}"/>
              </a:ext>
            </a:extLst>
          </p:cNvPr>
          <p:cNvPicPr>
            <a:picLocks noChangeAspect="1"/>
          </p:cNvPicPr>
          <p:nvPr/>
        </p:nvPicPr>
        <p:blipFill>
          <a:blip r:embed="rId2"/>
          <a:stretch>
            <a:fillRect/>
          </a:stretch>
        </p:blipFill>
        <p:spPr>
          <a:xfrm>
            <a:off x="12100341" y="7802991"/>
            <a:ext cx="2530059" cy="426609"/>
          </a:xfrm>
          <a:prstGeom prst="rect">
            <a:avLst/>
          </a:prstGeom>
        </p:spPr>
      </p:pic>
      <p:sp>
        <p:nvSpPr>
          <p:cNvPr id="2" name="Rectangle 1">
            <a:extLst>
              <a:ext uri="{FF2B5EF4-FFF2-40B4-BE49-F238E27FC236}">
                <a16:creationId xmlns:a16="http://schemas.microsoft.com/office/drawing/2014/main" id="{77D81BF4-D0AE-AA1A-DB11-061F9D810C0B}"/>
              </a:ext>
            </a:extLst>
          </p:cNvPr>
          <p:cNvSpPr>
            <a:spLocks noChangeArrowheads="1"/>
          </p:cNvSpPr>
          <p:nvPr/>
        </p:nvSpPr>
        <p:spPr bwMode="auto">
          <a:xfrm>
            <a:off x="192505" y="4263560"/>
            <a:ext cx="139446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IN" sz="2800" dirty="0">
                <a:solidFill>
                  <a:schemeClr val="bg1"/>
                </a:solidFill>
              </a:rPr>
              <a:t>Manual evaluation leads to:</a:t>
            </a:r>
          </a:p>
          <a:p>
            <a:pPr lvl="1" eaLnBrk="0" fontAlgn="base" hangingPunct="0">
              <a:spcBef>
                <a:spcPct val="0"/>
              </a:spcBef>
              <a:spcAft>
                <a:spcPct val="0"/>
              </a:spcAft>
              <a:buFontTx/>
              <a:buChar char="•"/>
            </a:pPr>
            <a:r>
              <a:rPr kumimoji="0" lang="en-US" altLang="en-US" sz="2800" b="0" i="0" u="none" strike="noStrike" cap="none" normalizeH="0" baseline="0" dirty="0">
                <a:ln>
                  <a:noFill/>
                </a:ln>
                <a:solidFill>
                  <a:schemeClr val="bg1"/>
                </a:solidFill>
                <a:effectLst/>
              </a:rPr>
              <a:t>Errors in marks calculation and duplication.</a:t>
            </a:r>
          </a:p>
          <a:p>
            <a:pPr lvl="1" eaLnBrk="0" fontAlgn="base" hangingPunct="0">
              <a:lnSpc>
                <a:spcPct val="150000"/>
              </a:lnSpc>
              <a:spcBef>
                <a:spcPct val="0"/>
              </a:spcBef>
              <a:spcAft>
                <a:spcPct val="0"/>
              </a:spcAft>
              <a:buFontTx/>
              <a:buChar char="•"/>
            </a:pPr>
            <a:r>
              <a:rPr lang="en-US" altLang="en-US" sz="2800" dirty="0">
                <a:solidFill>
                  <a:schemeClr val="bg1"/>
                </a:solidFill>
              </a:rPr>
              <a:t>Lack of centralized tracking for projects</a:t>
            </a:r>
            <a:r>
              <a:rPr kumimoji="0" lang="en-US" altLang="en-US" sz="2800" b="0" i="0" u="none" strike="noStrike" cap="none" normalizeH="0" baseline="0" dirty="0">
                <a:ln>
                  <a:noFill/>
                </a:ln>
                <a:solidFill>
                  <a:schemeClr val="bg1"/>
                </a:solidFill>
                <a:effectLst/>
              </a:rPr>
              <a:t>.</a:t>
            </a:r>
          </a:p>
          <a:p>
            <a:pPr lvl="1" eaLnBrk="0" fontAlgn="base" hangingPunct="0">
              <a:spcBef>
                <a:spcPct val="0"/>
              </a:spcBef>
              <a:spcAft>
                <a:spcPct val="0"/>
              </a:spcAft>
              <a:buFontTx/>
              <a:buChar char="•"/>
            </a:pPr>
            <a:r>
              <a:rPr kumimoji="0" lang="en-US" altLang="en-US" sz="2800" b="0" i="0" u="none" strike="noStrike" cap="none" normalizeH="0" baseline="0" dirty="0">
                <a:ln>
                  <a:noFill/>
                </a:ln>
                <a:solidFill>
                  <a:schemeClr val="bg1"/>
                </a:solidFill>
                <a:effectLst/>
              </a:rPr>
              <a:t>Inefficient generation of individual reports.</a:t>
            </a:r>
          </a:p>
          <a:p>
            <a:pPr lvl="1" eaLnBrk="0" fontAlgn="base" hangingPunct="0">
              <a:spcBef>
                <a:spcPct val="0"/>
              </a:spcBef>
              <a:spcAft>
                <a:spcPct val="0"/>
              </a:spcAft>
              <a:buFontTx/>
              <a:buChar char="•"/>
            </a:pPr>
            <a:endParaRPr kumimoji="0" lang="en-US" altLang="en-US" sz="2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solidFill>
                <a:effectLst/>
              </a:rPr>
              <a:t>Goal:</a:t>
            </a:r>
            <a:r>
              <a:rPr kumimoji="0" lang="en-US" altLang="en-US" sz="2800" b="0" i="0" u="none" strike="noStrike" cap="none" normalizeH="0" baseline="0" dirty="0">
                <a:ln>
                  <a:noFill/>
                </a:ln>
                <a:solidFill>
                  <a:schemeClr val="bg1"/>
                </a:solidFill>
                <a:effectLst/>
              </a:rPr>
              <a:t> Build a web-based system to automate evaluation, generate Excel reports, and improve transparency.</a:t>
            </a:r>
          </a:p>
        </p:txBody>
      </p:sp>
    </p:spTree>
    <p:extLst>
      <p:ext uri="{BB962C8B-B14F-4D97-AF65-F5344CB8AC3E}">
        <p14:creationId xmlns:p14="http://schemas.microsoft.com/office/powerpoint/2010/main" val="42275623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250882-0319-5F7B-6088-9BD78CC139FB}"/>
              </a:ext>
            </a:extLst>
          </p:cNvPr>
          <p:cNvSpPr txBox="1"/>
          <p:nvPr/>
        </p:nvSpPr>
        <p:spPr>
          <a:xfrm>
            <a:off x="240632" y="252663"/>
            <a:ext cx="12958010" cy="584775"/>
          </a:xfrm>
          <a:prstGeom prst="rect">
            <a:avLst/>
          </a:prstGeom>
          <a:noFill/>
        </p:spPr>
        <p:txBody>
          <a:bodyPr wrap="square" rtlCol="0">
            <a:spAutoFit/>
          </a:bodyPr>
          <a:lstStyle/>
          <a:p>
            <a:r>
              <a:rPr lang="en-IN" sz="3200">
                <a:solidFill>
                  <a:schemeClr val="bg1"/>
                </a:solidFill>
              </a:rPr>
              <a:t>Literature Review </a:t>
            </a:r>
          </a:p>
        </p:txBody>
      </p:sp>
      <p:pic>
        <p:nvPicPr>
          <p:cNvPr id="5" name="Picture 4">
            <a:extLst>
              <a:ext uri="{FF2B5EF4-FFF2-40B4-BE49-F238E27FC236}">
                <a16:creationId xmlns:a16="http://schemas.microsoft.com/office/drawing/2014/main" id="{FB5E90AF-9642-081E-7479-80D6B00A1935}"/>
              </a:ext>
            </a:extLst>
          </p:cNvPr>
          <p:cNvPicPr>
            <a:picLocks noChangeAspect="1"/>
          </p:cNvPicPr>
          <p:nvPr/>
        </p:nvPicPr>
        <p:blipFill>
          <a:blip r:embed="rId3"/>
          <a:stretch>
            <a:fillRect/>
          </a:stretch>
        </p:blipFill>
        <p:spPr>
          <a:xfrm>
            <a:off x="12100341" y="7802991"/>
            <a:ext cx="2530059" cy="426609"/>
          </a:xfrm>
          <a:prstGeom prst="rect">
            <a:avLst/>
          </a:prstGeom>
        </p:spPr>
      </p:pic>
      <p:graphicFrame>
        <p:nvGraphicFramePr>
          <p:cNvPr id="9" name="Table 8">
            <a:extLst>
              <a:ext uri="{FF2B5EF4-FFF2-40B4-BE49-F238E27FC236}">
                <a16:creationId xmlns:a16="http://schemas.microsoft.com/office/drawing/2014/main" id="{7479ED60-C7E9-7DA1-0DB5-886A51DC47B8}"/>
              </a:ext>
            </a:extLst>
          </p:cNvPr>
          <p:cNvGraphicFramePr>
            <a:graphicFrameLocks noGrp="1"/>
          </p:cNvGraphicFramePr>
          <p:nvPr>
            <p:extLst>
              <p:ext uri="{D42A27DB-BD31-4B8C-83A1-F6EECF244321}">
                <p14:modId xmlns:p14="http://schemas.microsoft.com/office/powerpoint/2010/main" val="1499757333"/>
              </p:ext>
            </p:extLst>
          </p:nvPr>
        </p:nvGraphicFramePr>
        <p:xfrm>
          <a:off x="104503" y="976149"/>
          <a:ext cx="14303827" cy="6391302"/>
        </p:xfrm>
        <a:graphic>
          <a:graphicData uri="http://schemas.openxmlformats.org/drawingml/2006/table">
            <a:tbl>
              <a:tblPr firstRow="1" bandRow="1">
                <a:tableStyleId>{5C22544A-7EE6-4342-B048-85BDC9FD1C3A}</a:tableStyleId>
              </a:tblPr>
              <a:tblGrid>
                <a:gridCol w="1022567">
                  <a:extLst>
                    <a:ext uri="{9D8B030D-6E8A-4147-A177-3AD203B41FA5}">
                      <a16:colId xmlns:a16="http://schemas.microsoft.com/office/drawing/2014/main" val="492722398"/>
                    </a:ext>
                  </a:extLst>
                </a:gridCol>
                <a:gridCol w="2164770">
                  <a:extLst>
                    <a:ext uri="{9D8B030D-6E8A-4147-A177-3AD203B41FA5}">
                      <a16:colId xmlns:a16="http://schemas.microsoft.com/office/drawing/2014/main" val="527822938"/>
                    </a:ext>
                  </a:extLst>
                </a:gridCol>
                <a:gridCol w="1894114">
                  <a:extLst>
                    <a:ext uri="{9D8B030D-6E8A-4147-A177-3AD203B41FA5}">
                      <a16:colId xmlns:a16="http://schemas.microsoft.com/office/drawing/2014/main" val="1825610199"/>
                    </a:ext>
                  </a:extLst>
                </a:gridCol>
                <a:gridCol w="1959429">
                  <a:extLst>
                    <a:ext uri="{9D8B030D-6E8A-4147-A177-3AD203B41FA5}">
                      <a16:colId xmlns:a16="http://schemas.microsoft.com/office/drawing/2014/main" val="3274188456"/>
                    </a:ext>
                  </a:extLst>
                </a:gridCol>
                <a:gridCol w="1528354">
                  <a:extLst>
                    <a:ext uri="{9D8B030D-6E8A-4147-A177-3AD203B41FA5}">
                      <a16:colId xmlns:a16="http://schemas.microsoft.com/office/drawing/2014/main" val="2727900586"/>
                    </a:ext>
                  </a:extLst>
                </a:gridCol>
                <a:gridCol w="3265714">
                  <a:extLst>
                    <a:ext uri="{9D8B030D-6E8A-4147-A177-3AD203B41FA5}">
                      <a16:colId xmlns:a16="http://schemas.microsoft.com/office/drawing/2014/main" val="2221083542"/>
                    </a:ext>
                  </a:extLst>
                </a:gridCol>
                <a:gridCol w="2468879">
                  <a:extLst>
                    <a:ext uri="{9D8B030D-6E8A-4147-A177-3AD203B41FA5}">
                      <a16:colId xmlns:a16="http://schemas.microsoft.com/office/drawing/2014/main" val="2830429618"/>
                    </a:ext>
                  </a:extLst>
                </a:gridCol>
              </a:tblGrid>
              <a:tr h="1360174">
                <a:tc>
                  <a:txBody>
                    <a:bodyPr/>
                    <a:lstStyle/>
                    <a:p>
                      <a:pPr>
                        <a:buNone/>
                      </a:pPr>
                      <a:r>
                        <a:rPr lang="en-IN" sz="2800"/>
                        <a:t>S .No</a:t>
                      </a:r>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 </a:t>
                      </a:r>
                    </a:p>
                  </a:txBody>
                  <a:tcPr anchor="ctr"/>
                </a:tc>
                <a:extLst>
                  <a:ext uri="{0D108BD9-81ED-4DB2-BD59-A6C34878D82A}">
                    <a16:rowId xmlns:a16="http://schemas.microsoft.com/office/drawing/2014/main" val="724362471"/>
                  </a:ext>
                </a:extLst>
              </a:tr>
              <a:tr h="2729299">
                <a:tc>
                  <a:txBody>
                    <a:bodyPr/>
                    <a:lstStyle/>
                    <a:p>
                      <a:pPr>
                        <a:buNone/>
                      </a:pPr>
                      <a:r>
                        <a:rPr lang="en-IN" sz="2300" b="1"/>
                        <a:t>1</a:t>
                      </a:r>
                      <a:endParaRPr lang="en-IN" sz="2300"/>
                    </a:p>
                  </a:txBody>
                  <a:tcPr anchor="ctr"/>
                </a:tc>
                <a:tc>
                  <a:txBody>
                    <a:bodyPr/>
                    <a:lstStyle/>
                    <a:p>
                      <a:pPr>
                        <a:buNone/>
                      </a:pPr>
                      <a:r>
                        <a:rPr lang="en-US" sz="2300" b="1"/>
                        <a:t>A Web-Based Academic Project Management and Evaluation System</a:t>
                      </a:r>
                      <a:r>
                        <a:rPr lang="en-US" sz="2300"/>
                        <a:t> </a:t>
                      </a:r>
                    </a:p>
                  </a:txBody>
                  <a:tcPr anchor="ctr"/>
                </a:tc>
                <a:tc>
                  <a:txBody>
                    <a:bodyPr/>
                    <a:lstStyle/>
                    <a:p>
                      <a:pPr>
                        <a:buNone/>
                      </a:pPr>
                      <a:r>
                        <a:rPr lang="da-DK" sz="2300"/>
                        <a:t>S. S. Pandey et al.</a:t>
                      </a:r>
                    </a:p>
                  </a:txBody>
                  <a:tcPr anchor="ctr"/>
                </a:tc>
                <a:tc>
                  <a:txBody>
                    <a:bodyPr/>
                    <a:lstStyle/>
                    <a:p>
                      <a:pPr>
                        <a:buNone/>
                      </a:pPr>
                      <a:r>
                        <a:rPr lang="en-US" sz="2300" i="1"/>
                        <a:t>IRJMETS</a:t>
                      </a:r>
                      <a:endParaRPr lang="en-US" sz="2300"/>
                    </a:p>
                  </a:txBody>
                  <a:tcPr anchor="ctr"/>
                </a:tc>
                <a:tc>
                  <a:txBody>
                    <a:bodyPr/>
                    <a:lstStyle/>
                    <a:p>
                      <a:pPr>
                        <a:buNone/>
                      </a:pPr>
                      <a:r>
                        <a:rPr lang="en-US" sz="2300"/>
                        <a:t>2025</a:t>
                      </a:r>
                    </a:p>
                  </a:txBody>
                  <a:tcPr anchor="ctr"/>
                </a:tc>
                <a:tc>
                  <a:txBody>
                    <a:bodyPr/>
                    <a:lstStyle/>
                    <a:p>
                      <a:pPr>
                        <a:buNone/>
                      </a:pPr>
                      <a:r>
                        <a:rPr lang="en-US" sz="2300"/>
                        <a:t>Role-based web app (Flask); digital submission, online evaluation</a:t>
                      </a:r>
                    </a:p>
                  </a:txBody>
                  <a:tcPr anchor="ctr"/>
                </a:tc>
                <a:tc>
                  <a:txBody>
                    <a:bodyPr/>
                    <a:lstStyle/>
                    <a:p>
                      <a:pPr>
                        <a:buNone/>
                      </a:pPr>
                      <a:r>
                        <a:rPr lang="en-US" sz="2300"/>
                        <a:t>Enabled digital project submission and guide feedback; reduced paperwork and improved transparency.</a:t>
                      </a:r>
                    </a:p>
                  </a:txBody>
                  <a:tcPr anchor="ctr"/>
                </a:tc>
                <a:extLst>
                  <a:ext uri="{0D108BD9-81ED-4DB2-BD59-A6C34878D82A}">
                    <a16:rowId xmlns:a16="http://schemas.microsoft.com/office/drawing/2014/main" val="2161225587"/>
                  </a:ext>
                </a:extLst>
              </a:tr>
              <a:tr h="2301829">
                <a:tc>
                  <a:txBody>
                    <a:bodyPr/>
                    <a:lstStyle/>
                    <a:p>
                      <a:pPr>
                        <a:buNone/>
                      </a:pPr>
                      <a:r>
                        <a:rPr lang="en-IN" sz="2300" b="1"/>
                        <a:t>2</a:t>
                      </a:r>
                      <a:endParaRPr lang="en-IN" sz="2300"/>
                    </a:p>
                  </a:txBody>
                  <a:tcPr anchor="ctr"/>
                </a:tc>
                <a:tc>
                  <a:txBody>
                    <a:bodyPr/>
                    <a:lstStyle/>
                    <a:p>
                      <a:pPr>
                        <a:buNone/>
                      </a:pPr>
                      <a:r>
                        <a:rPr lang="en-IN" sz="2300" b="1"/>
                        <a:t>Student Performance Evaluation System</a:t>
                      </a:r>
                      <a:r>
                        <a:rPr lang="en-IN" sz="2300"/>
                        <a:t> </a:t>
                      </a:r>
                    </a:p>
                  </a:txBody>
                  <a:tcPr anchor="ctr"/>
                </a:tc>
                <a:tc>
                  <a:txBody>
                    <a:bodyPr/>
                    <a:lstStyle/>
                    <a:p>
                      <a:pPr>
                        <a:buNone/>
                      </a:pPr>
                      <a:r>
                        <a:rPr lang="it-IT" sz="2300"/>
                        <a:t>A. D. Shirale &amp; K. T. Mali</a:t>
                      </a:r>
                    </a:p>
                  </a:txBody>
                  <a:tcPr anchor="ctr"/>
                </a:tc>
                <a:tc>
                  <a:txBody>
                    <a:bodyPr/>
                    <a:lstStyle/>
                    <a:p>
                      <a:pPr>
                        <a:buNone/>
                      </a:pPr>
                      <a:r>
                        <a:rPr lang="en-IN" sz="2300" i="1"/>
                        <a:t>IJNRD</a:t>
                      </a:r>
                      <a:endParaRPr lang="en-US" sz="2300"/>
                    </a:p>
                  </a:txBody>
                  <a:tcPr anchor="ctr"/>
                </a:tc>
                <a:tc>
                  <a:txBody>
                    <a:bodyPr/>
                    <a:lstStyle/>
                    <a:p>
                      <a:pPr>
                        <a:buNone/>
                      </a:pPr>
                      <a:r>
                        <a:rPr lang="en-US" sz="2300"/>
                        <a:t>2024</a:t>
                      </a:r>
                    </a:p>
                  </a:txBody>
                  <a:tcPr anchor="ctr"/>
                </a:tc>
                <a:tc>
                  <a:txBody>
                    <a:bodyPr/>
                    <a:lstStyle/>
                    <a:p>
                      <a:pPr>
                        <a:buNone/>
                      </a:pPr>
                      <a:r>
                        <a:rPr lang="en-US" sz="2300"/>
                        <a:t>Data analytics + ML for evaluation</a:t>
                      </a:r>
                    </a:p>
                  </a:txBody>
                  <a:tcPr anchor="ctr"/>
                </a:tc>
                <a:tc>
                  <a:txBody>
                    <a:bodyPr/>
                    <a:lstStyle/>
                    <a:p>
                      <a:pPr>
                        <a:buNone/>
                      </a:pPr>
                      <a:r>
                        <a:rPr lang="en-US" sz="2300" dirty="0"/>
                        <a:t>Automated student performance tracking; improved accuracy and reduced bias.</a:t>
                      </a:r>
                    </a:p>
                  </a:txBody>
                  <a:tcPr anchor="ctr"/>
                </a:tc>
                <a:extLst>
                  <a:ext uri="{0D108BD9-81ED-4DB2-BD59-A6C34878D82A}">
                    <a16:rowId xmlns:a16="http://schemas.microsoft.com/office/drawing/2014/main" val="2634328171"/>
                  </a:ext>
                </a:extLst>
              </a:tr>
            </a:tbl>
          </a:graphicData>
        </a:graphic>
      </p:graphicFrame>
    </p:spTree>
    <p:extLst>
      <p:ext uri="{BB962C8B-B14F-4D97-AF65-F5344CB8AC3E}">
        <p14:creationId xmlns:p14="http://schemas.microsoft.com/office/powerpoint/2010/main" val="214997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3A802F6-B277-6A18-202D-02A62A1D2E2C}"/>
              </a:ext>
            </a:extLst>
          </p:cNvPr>
          <p:cNvGraphicFramePr>
            <a:graphicFrameLocks noGrp="1"/>
          </p:cNvGraphicFramePr>
          <p:nvPr>
            <p:extLst>
              <p:ext uri="{D42A27DB-BD31-4B8C-83A1-F6EECF244321}">
                <p14:modId xmlns:p14="http://schemas.microsoft.com/office/powerpoint/2010/main" val="2808760256"/>
              </p:ext>
            </p:extLst>
          </p:nvPr>
        </p:nvGraphicFramePr>
        <p:xfrm>
          <a:off x="418011" y="692331"/>
          <a:ext cx="13807439" cy="6884125"/>
        </p:xfrm>
        <a:graphic>
          <a:graphicData uri="http://schemas.openxmlformats.org/drawingml/2006/table">
            <a:tbl>
              <a:tblPr firstRow="1" bandRow="1">
                <a:tableStyleId>{5C22544A-7EE6-4342-B048-85BDC9FD1C3A}</a:tableStyleId>
              </a:tblPr>
              <a:tblGrid>
                <a:gridCol w="1201808">
                  <a:extLst>
                    <a:ext uri="{9D8B030D-6E8A-4147-A177-3AD203B41FA5}">
                      <a16:colId xmlns:a16="http://schemas.microsoft.com/office/drawing/2014/main" val="1751280789"/>
                    </a:ext>
                  </a:extLst>
                </a:gridCol>
                <a:gridCol w="2577211">
                  <a:extLst>
                    <a:ext uri="{9D8B030D-6E8A-4147-A177-3AD203B41FA5}">
                      <a16:colId xmlns:a16="http://schemas.microsoft.com/office/drawing/2014/main" val="2717737592"/>
                    </a:ext>
                  </a:extLst>
                </a:gridCol>
                <a:gridCol w="2138455">
                  <a:extLst>
                    <a:ext uri="{9D8B030D-6E8A-4147-A177-3AD203B41FA5}">
                      <a16:colId xmlns:a16="http://schemas.microsoft.com/office/drawing/2014/main" val="3804261094"/>
                    </a:ext>
                  </a:extLst>
                </a:gridCol>
                <a:gridCol w="1972491">
                  <a:extLst>
                    <a:ext uri="{9D8B030D-6E8A-4147-A177-3AD203B41FA5}">
                      <a16:colId xmlns:a16="http://schemas.microsoft.com/office/drawing/2014/main" val="2070027501"/>
                    </a:ext>
                  </a:extLst>
                </a:gridCol>
                <a:gridCol w="1363959">
                  <a:extLst>
                    <a:ext uri="{9D8B030D-6E8A-4147-A177-3AD203B41FA5}">
                      <a16:colId xmlns:a16="http://schemas.microsoft.com/office/drawing/2014/main" val="29451954"/>
                    </a:ext>
                  </a:extLst>
                </a:gridCol>
                <a:gridCol w="2390264">
                  <a:extLst>
                    <a:ext uri="{9D8B030D-6E8A-4147-A177-3AD203B41FA5}">
                      <a16:colId xmlns:a16="http://schemas.microsoft.com/office/drawing/2014/main" val="256634274"/>
                    </a:ext>
                  </a:extLst>
                </a:gridCol>
                <a:gridCol w="2163251">
                  <a:extLst>
                    <a:ext uri="{9D8B030D-6E8A-4147-A177-3AD203B41FA5}">
                      <a16:colId xmlns:a16="http://schemas.microsoft.com/office/drawing/2014/main" val="3607310267"/>
                    </a:ext>
                  </a:extLst>
                </a:gridCol>
              </a:tblGrid>
              <a:tr h="17929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a:t>S .No</a:t>
                      </a:r>
                    </a:p>
                    <a:p>
                      <a:pPr>
                        <a:buNone/>
                      </a:pPr>
                      <a:endParaRPr lang="en-IN" sz="2800"/>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 </a:t>
                      </a:r>
                    </a:p>
                  </a:txBody>
                  <a:tcPr anchor="ctr"/>
                </a:tc>
                <a:extLst>
                  <a:ext uri="{0D108BD9-81ED-4DB2-BD59-A6C34878D82A}">
                    <a16:rowId xmlns:a16="http://schemas.microsoft.com/office/drawing/2014/main" val="3597152206"/>
                  </a:ext>
                </a:extLst>
              </a:tr>
              <a:tr h="2180213">
                <a:tc>
                  <a:txBody>
                    <a:bodyPr/>
                    <a:lstStyle/>
                    <a:p>
                      <a:pPr>
                        <a:buNone/>
                      </a:pPr>
                      <a:r>
                        <a:rPr lang="en-IN" sz="2300" b="1"/>
                        <a:t>3</a:t>
                      </a:r>
                      <a:endParaRPr lang="en-IN" sz="2300"/>
                    </a:p>
                  </a:txBody>
                  <a:tcPr anchor="ctr"/>
                </a:tc>
                <a:tc>
                  <a:txBody>
                    <a:bodyPr/>
                    <a:lstStyle/>
                    <a:p>
                      <a:pPr>
                        <a:buNone/>
                      </a:pPr>
                      <a:r>
                        <a:rPr lang="en-US" sz="2300" b="1"/>
                        <a:t>Web-Based Projects Evaluation Management System</a:t>
                      </a:r>
                      <a:endParaRPr lang="en-US" sz="2300"/>
                    </a:p>
                  </a:txBody>
                  <a:tcPr anchor="ctr"/>
                </a:tc>
                <a:tc>
                  <a:txBody>
                    <a:bodyPr/>
                    <a:lstStyle/>
                    <a:p>
                      <a:pPr>
                        <a:buNone/>
                      </a:pPr>
                      <a:r>
                        <a:rPr lang="pl-PL" sz="2300"/>
                        <a:t>M. O. Oyelami &amp; J. B. Odajuyigbe</a:t>
                      </a:r>
                    </a:p>
                  </a:txBody>
                  <a:tcPr anchor="ctr"/>
                </a:tc>
                <a:tc>
                  <a:txBody>
                    <a:bodyPr/>
                    <a:lstStyle/>
                    <a:p>
                      <a:pPr>
                        <a:buNone/>
                      </a:pPr>
                      <a:r>
                        <a:rPr lang="en-US" sz="2300" i="1"/>
                        <a:t>IEEE</a:t>
                      </a:r>
                      <a:endParaRPr lang="en-US" sz="2300"/>
                    </a:p>
                  </a:txBody>
                  <a:tcPr anchor="ctr"/>
                </a:tc>
                <a:tc>
                  <a:txBody>
                    <a:bodyPr/>
                    <a:lstStyle/>
                    <a:p>
                      <a:pPr>
                        <a:buNone/>
                      </a:pPr>
                      <a:r>
                        <a:rPr lang="en-US" sz="2300" i="1"/>
                        <a:t>2008</a:t>
                      </a:r>
                      <a:endParaRPr lang="en-US" sz="2300"/>
                    </a:p>
                  </a:txBody>
                  <a:tcPr anchor="ctr"/>
                </a:tc>
                <a:tc>
                  <a:txBody>
                    <a:bodyPr/>
                    <a:lstStyle/>
                    <a:p>
                      <a:pPr>
                        <a:buNone/>
                      </a:pPr>
                      <a:r>
                        <a:rPr lang="en-US" sz="2300"/>
                        <a:t>Online evaluation forms; design-research methodology</a:t>
                      </a:r>
                    </a:p>
                  </a:txBody>
                  <a:tcPr anchor="ctr"/>
                </a:tc>
                <a:tc>
                  <a:txBody>
                    <a:bodyPr/>
                    <a:lstStyle/>
                    <a:p>
                      <a:pPr>
                        <a:buNone/>
                      </a:pPr>
                      <a:r>
                        <a:rPr lang="en-US" sz="2300"/>
                        <a:t>Digitized project evaluation; saved time and enhanced accessibility.</a:t>
                      </a:r>
                    </a:p>
                  </a:txBody>
                  <a:tcPr anchor="ctr"/>
                </a:tc>
                <a:extLst>
                  <a:ext uri="{0D108BD9-81ED-4DB2-BD59-A6C34878D82A}">
                    <a16:rowId xmlns:a16="http://schemas.microsoft.com/office/drawing/2014/main" val="401772345"/>
                  </a:ext>
                </a:extLst>
              </a:tr>
              <a:tr h="2910997">
                <a:tc>
                  <a:txBody>
                    <a:bodyPr/>
                    <a:lstStyle/>
                    <a:p>
                      <a:pPr>
                        <a:buNone/>
                      </a:pPr>
                      <a:r>
                        <a:rPr lang="en-IN" sz="2300" b="1"/>
                        <a:t>4</a:t>
                      </a:r>
                      <a:endParaRPr lang="en-IN" sz="2300"/>
                    </a:p>
                  </a:txBody>
                  <a:tcPr anchor="ctr"/>
                </a:tc>
                <a:tc>
                  <a:txBody>
                    <a:bodyPr/>
                    <a:lstStyle/>
                    <a:p>
                      <a:pPr>
                        <a:buNone/>
                      </a:pPr>
                      <a:r>
                        <a:rPr lang="en-US" sz="2300" b="1"/>
                        <a:t>Student Project-Management and Evaluation Strategies</a:t>
                      </a:r>
                      <a:r>
                        <a:rPr lang="en-US" sz="2300"/>
                        <a:t> </a:t>
                      </a:r>
                    </a:p>
                  </a:txBody>
                  <a:tcPr anchor="ctr"/>
                </a:tc>
                <a:tc>
                  <a:txBody>
                    <a:bodyPr/>
                    <a:lstStyle/>
                    <a:p>
                      <a:pPr>
                        <a:buNone/>
                      </a:pPr>
                      <a:r>
                        <a:rPr lang="en-IN" sz="2300"/>
                        <a:t>W. K. Wanyoike &amp; M. N. Mwangi</a:t>
                      </a:r>
                    </a:p>
                  </a:txBody>
                  <a:tcPr anchor="ctr"/>
                </a:tc>
                <a:tc>
                  <a:txBody>
                    <a:bodyPr/>
                    <a:lstStyle/>
                    <a:p>
                      <a:pPr>
                        <a:buNone/>
                      </a:pPr>
                      <a:r>
                        <a:rPr lang="en-US" sz="2300" i="1"/>
                        <a:t>IJRPR</a:t>
                      </a:r>
                      <a:endParaRPr lang="en-IN" sz="2300"/>
                    </a:p>
                  </a:txBody>
                  <a:tcPr anchor="ctr"/>
                </a:tc>
                <a:tc>
                  <a:txBody>
                    <a:bodyPr/>
                    <a:lstStyle/>
                    <a:p>
                      <a:pPr>
                        <a:buNone/>
                      </a:pPr>
                      <a:r>
                        <a:rPr lang="en-US" sz="2300" i="1"/>
                        <a:t>2023</a:t>
                      </a:r>
                      <a:endParaRPr lang="en-US" sz="23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300"/>
                        <a:t>Survey + requirement analysis</a:t>
                      </a:r>
                    </a:p>
                    <a:p>
                      <a:endParaRPr lang="en-IN" sz="23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300"/>
                        <a:t>Highlighted gaps in existing tools; recommended integrated evaluation platforms.</a:t>
                      </a:r>
                    </a:p>
                    <a:p>
                      <a:endParaRPr lang="en-IN" sz="2300"/>
                    </a:p>
                  </a:txBody>
                  <a:tcPr/>
                </a:tc>
                <a:extLst>
                  <a:ext uri="{0D108BD9-81ED-4DB2-BD59-A6C34878D82A}">
                    <a16:rowId xmlns:a16="http://schemas.microsoft.com/office/drawing/2014/main" val="3793929552"/>
                  </a:ext>
                </a:extLst>
              </a:tr>
            </a:tbl>
          </a:graphicData>
        </a:graphic>
      </p:graphicFrame>
      <p:pic>
        <p:nvPicPr>
          <p:cNvPr id="4" name="Picture 3">
            <a:extLst>
              <a:ext uri="{FF2B5EF4-FFF2-40B4-BE49-F238E27FC236}">
                <a16:creationId xmlns:a16="http://schemas.microsoft.com/office/drawing/2014/main" id="{671C6E58-849D-729E-8A0A-8048E09F04B8}"/>
              </a:ext>
            </a:extLst>
          </p:cNvPr>
          <p:cNvPicPr>
            <a:picLocks noChangeAspect="1"/>
          </p:cNvPicPr>
          <p:nvPr/>
        </p:nvPicPr>
        <p:blipFill>
          <a:blip r:embed="rId2"/>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3044838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7A0746-2DD8-8677-59A6-8F65635A6395}"/>
              </a:ext>
            </a:extLst>
          </p:cNvPr>
          <p:cNvPicPr>
            <a:picLocks noChangeAspect="1"/>
          </p:cNvPicPr>
          <p:nvPr/>
        </p:nvPicPr>
        <p:blipFill>
          <a:blip r:embed="rId2"/>
          <a:stretch>
            <a:fillRect/>
          </a:stretch>
        </p:blipFill>
        <p:spPr>
          <a:xfrm>
            <a:off x="12100341" y="7802991"/>
            <a:ext cx="2530059" cy="426609"/>
          </a:xfrm>
          <a:prstGeom prst="rect">
            <a:avLst/>
          </a:prstGeom>
        </p:spPr>
      </p:pic>
      <p:graphicFrame>
        <p:nvGraphicFramePr>
          <p:cNvPr id="3" name="Table 2">
            <a:extLst>
              <a:ext uri="{FF2B5EF4-FFF2-40B4-BE49-F238E27FC236}">
                <a16:creationId xmlns:a16="http://schemas.microsoft.com/office/drawing/2014/main" id="{ABC82583-1C82-FEEB-E9E6-49BFE7FE4776}"/>
              </a:ext>
            </a:extLst>
          </p:cNvPr>
          <p:cNvGraphicFramePr>
            <a:graphicFrameLocks noGrp="1"/>
          </p:cNvGraphicFramePr>
          <p:nvPr>
            <p:extLst>
              <p:ext uri="{D42A27DB-BD31-4B8C-83A1-F6EECF244321}">
                <p14:modId xmlns:p14="http://schemas.microsoft.com/office/powerpoint/2010/main" val="2662979395"/>
              </p:ext>
            </p:extLst>
          </p:nvPr>
        </p:nvGraphicFramePr>
        <p:xfrm>
          <a:off x="522514" y="863600"/>
          <a:ext cx="13729063" cy="6673670"/>
        </p:xfrm>
        <a:graphic>
          <a:graphicData uri="http://schemas.openxmlformats.org/drawingml/2006/table">
            <a:tbl>
              <a:tblPr firstRow="1" bandRow="1">
                <a:tableStyleId>{5C22544A-7EE6-4342-B048-85BDC9FD1C3A}</a:tableStyleId>
              </a:tblPr>
              <a:tblGrid>
                <a:gridCol w="1153027">
                  <a:extLst>
                    <a:ext uri="{9D8B030D-6E8A-4147-A177-3AD203B41FA5}">
                      <a16:colId xmlns:a16="http://schemas.microsoft.com/office/drawing/2014/main" val="200504866"/>
                    </a:ext>
                  </a:extLst>
                </a:gridCol>
                <a:gridCol w="2533978">
                  <a:extLst>
                    <a:ext uri="{9D8B030D-6E8A-4147-A177-3AD203B41FA5}">
                      <a16:colId xmlns:a16="http://schemas.microsoft.com/office/drawing/2014/main" val="3827308776"/>
                    </a:ext>
                  </a:extLst>
                </a:gridCol>
                <a:gridCol w="2171981">
                  <a:extLst>
                    <a:ext uri="{9D8B030D-6E8A-4147-A177-3AD203B41FA5}">
                      <a16:colId xmlns:a16="http://schemas.microsoft.com/office/drawing/2014/main" val="1388207787"/>
                    </a:ext>
                  </a:extLst>
                </a:gridCol>
                <a:gridCol w="1986192">
                  <a:extLst>
                    <a:ext uri="{9D8B030D-6E8A-4147-A177-3AD203B41FA5}">
                      <a16:colId xmlns:a16="http://schemas.microsoft.com/office/drawing/2014/main" val="2861430568"/>
                    </a:ext>
                  </a:extLst>
                </a:gridCol>
                <a:gridCol w="1446074">
                  <a:extLst>
                    <a:ext uri="{9D8B030D-6E8A-4147-A177-3AD203B41FA5}">
                      <a16:colId xmlns:a16="http://schemas.microsoft.com/office/drawing/2014/main" val="891983239"/>
                    </a:ext>
                  </a:extLst>
                </a:gridCol>
                <a:gridCol w="2346276">
                  <a:extLst>
                    <a:ext uri="{9D8B030D-6E8A-4147-A177-3AD203B41FA5}">
                      <a16:colId xmlns:a16="http://schemas.microsoft.com/office/drawing/2014/main" val="1771654406"/>
                    </a:ext>
                  </a:extLst>
                </a:gridCol>
                <a:gridCol w="2091535">
                  <a:extLst>
                    <a:ext uri="{9D8B030D-6E8A-4147-A177-3AD203B41FA5}">
                      <a16:colId xmlns:a16="http://schemas.microsoft.com/office/drawing/2014/main" val="1889331048"/>
                    </a:ext>
                  </a:extLst>
                </a:gridCol>
              </a:tblGrid>
              <a:tr h="17442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a:t>S .No</a:t>
                      </a:r>
                    </a:p>
                    <a:p>
                      <a:pPr>
                        <a:buNone/>
                      </a:pPr>
                      <a:endParaRPr lang="en-IN" sz="2800"/>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a:t>
                      </a:r>
                    </a:p>
                  </a:txBody>
                  <a:tcPr anchor="ctr"/>
                </a:tc>
                <a:extLst>
                  <a:ext uri="{0D108BD9-81ED-4DB2-BD59-A6C34878D82A}">
                    <a16:rowId xmlns:a16="http://schemas.microsoft.com/office/drawing/2014/main" val="2951909754"/>
                  </a:ext>
                </a:extLst>
              </a:tr>
              <a:tr h="2464726">
                <a:tc>
                  <a:txBody>
                    <a:bodyPr/>
                    <a:lstStyle/>
                    <a:p>
                      <a:pPr>
                        <a:buNone/>
                      </a:pPr>
                      <a:r>
                        <a:rPr lang="en-IN" sz="2300" b="1"/>
                        <a:t>5</a:t>
                      </a:r>
                      <a:endParaRPr lang="en-IN" sz="2300"/>
                    </a:p>
                  </a:txBody>
                  <a:tcPr anchor="ctr"/>
                </a:tc>
                <a:tc>
                  <a:txBody>
                    <a:bodyPr/>
                    <a:lstStyle/>
                    <a:p>
                      <a:pPr>
                        <a:buNone/>
                      </a:pPr>
                      <a:r>
                        <a:rPr lang="en-US" sz="2300" b="1"/>
                        <a:t>Quality Evaluation System for Higher-Ed Students</a:t>
                      </a:r>
                      <a:endParaRPr lang="en-US" sz="2300"/>
                    </a:p>
                  </a:txBody>
                  <a:tcPr anchor="ctr"/>
                </a:tc>
                <a:tc>
                  <a:txBody>
                    <a:bodyPr/>
                    <a:lstStyle/>
                    <a:p>
                      <a:pPr>
                        <a:buNone/>
                      </a:pPr>
                      <a:r>
                        <a:rPr lang="en-IN" sz="2300"/>
                        <a:t>C. L. T. Dang &amp; S. Zhang</a:t>
                      </a:r>
                    </a:p>
                  </a:txBody>
                  <a:tcPr anchor="ctr"/>
                </a:tc>
                <a:tc>
                  <a:txBody>
                    <a:bodyPr/>
                    <a:lstStyle/>
                    <a:p>
                      <a:pPr>
                        <a:buNone/>
                      </a:pPr>
                      <a:r>
                        <a:rPr lang="en-US" sz="2300" i="1"/>
                        <a:t>IJELS</a:t>
                      </a:r>
                      <a:endParaRPr lang="en-IN" sz="2300"/>
                    </a:p>
                  </a:txBody>
                  <a:tcPr anchor="ctr"/>
                </a:tc>
                <a:tc>
                  <a:txBody>
                    <a:bodyPr/>
                    <a:lstStyle/>
                    <a:p>
                      <a:pPr>
                        <a:buNone/>
                      </a:pPr>
                      <a:r>
                        <a:rPr lang="en-US" sz="2300"/>
                        <a:t>2024</a:t>
                      </a:r>
                    </a:p>
                  </a:txBody>
                  <a:tcPr anchor="ctr"/>
                </a:tc>
                <a:tc>
                  <a:txBody>
                    <a:bodyPr/>
                    <a:lstStyle/>
                    <a:p>
                      <a:pPr>
                        <a:buNone/>
                      </a:pPr>
                      <a:r>
                        <a:rPr lang="en-IN" sz="2300"/>
                        <a:t>Statistical </a:t>
                      </a:r>
                      <a:r>
                        <a:rPr lang="en-IN" sz="2300" err="1"/>
                        <a:t>modeling</a:t>
                      </a:r>
                      <a:r>
                        <a:rPr lang="en-IN" sz="2300"/>
                        <a:t> + survey</a:t>
                      </a:r>
                    </a:p>
                  </a:txBody>
                  <a:tcPr anchor="ctr"/>
                </a:tc>
                <a:tc>
                  <a:txBody>
                    <a:bodyPr/>
                    <a:lstStyle/>
                    <a:p>
                      <a:pPr>
                        <a:buNone/>
                      </a:pPr>
                      <a:r>
                        <a:rPr lang="en-US" sz="2300"/>
                        <a:t>Proposed fair, multi-factor academic evaluation; validated high feasibility.</a:t>
                      </a:r>
                    </a:p>
                  </a:txBody>
                  <a:tcPr anchor="ctr"/>
                </a:tc>
                <a:extLst>
                  <a:ext uri="{0D108BD9-81ED-4DB2-BD59-A6C34878D82A}">
                    <a16:rowId xmlns:a16="http://schemas.microsoft.com/office/drawing/2014/main" val="2355852902"/>
                  </a:ext>
                </a:extLst>
              </a:tr>
              <a:tr h="2464726">
                <a:tc>
                  <a:txBody>
                    <a:bodyPr/>
                    <a:lstStyle/>
                    <a:p>
                      <a:pPr>
                        <a:buNone/>
                      </a:pPr>
                      <a:r>
                        <a:rPr lang="en-IN" sz="2300" b="1"/>
                        <a:t>6</a:t>
                      </a:r>
                      <a:endParaRPr lang="en-IN" sz="2300"/>
                    </a:p>
                  </a:txBody>
                  <a:tcPr anchor="ctr"/>
                </a:tc>
                <a:tc>
                  <a:txBody>
                    <a:bodyPr/>
                    <a:lstStyle/>
                    <a:p>
                      <a:pPr>
                        <a:buNone/>
                      </a:pPr>
                      <a:r>
                        <a:rPr lang="en-US" sz="2300" b="1"/>
                        <a:t>Distributed Student Performance Assessment System</a:t>
                      </a:r>
                      <a:endParaRPr lang="en-US" sz="2300"/>
                    </a:p>
                  </a:txBody>
                  <a:tcPr anchor="ctr"/>
                </a:tc>
                <a:tc>
                  <a:txBody>
                    <a:bodyPr/>
                    <a:lstStyle/>
                    <a:p>
                      <a:pPr>
                        <a:buNone/>
                      </a:pPr>
                      <a:r>
                        <a:rPr lang="en-IN" sz="2300"/>
                        <a:t>A. Montoya &amp; D. Jiménez</a:t>
                      </a:r>
                    </a:p>
                  </a:txBody>
                  <a:tcPr anchor="ctr"/>
                </a:tc>
                <a:tc>
                  <a:txBody>
                    <a:bodyPr/>
                    <a:lstStyle/>
                    <a:p>
                      <a:pPr>
                        <a:buNone/>
                      </a:pPr>
                      <a:r>
                        <a:rPr lang="en-US" sz="2300" i="1"/>
                        <a:t>Preprint</a:t>
                      </a:r>
                      <a:endParaRPr lang="en-IN" sz="2300"/>
                    </a:p>
                  </a:txBody>
                  <a:tcPr anchor="ctr"/>
                </a:tc>
                <a:tc>
                  <a:txBody>
                    <a:bodyPr/>
                    <a:lstStyle/>
                    <a:p>
                      <a:pPr>
                        <a:buNone/>
                      </a:pPr>
                      <a:r>
                        <a:rPr lang="en-US" sz="2300"/>
                        <a:t>2024</a:t>
                      </a:r>
                    </a:p>
                  </a:txBody>
                  <a:tcPr anchor="ctr"/>
                </a:tc>
                <a:tc>
                  <a:txBody>
                    <a:bodyPr/>
                    <a:lstStyle/>
                    <a:p>
                      <a:pPr>
                        <a:buNone/>
                      </a:pPr>
                      <a:r>
                        <a:rPr lang="en-IN" sz="2300"/>
                        <a:t>Agile dev + DB replication</a:t>
                      </a:r>
                    </a:p>
                  </a:txBody>
                  <a:tcPr anchor="ctr"/>
                </a:tc>
                <a:tc>
                  <a:txBody>
                    <a:bodyPr/>
                    <a:lstStyle/>
                    <a:p>
                      <a:pPr>
                        <a:buNone/>
                      </a:pPr>
                      <a:r>
                        <a:rPr lang="en-US" sz="2300"/>
                        <a:t>Achieved efficient, transparent assessment with real-time monitoring.</a:t>
                      </a:r>
                    </a:p>
                  </a:txBody>
                  <a:tcPr anchor="ctr"/>
                </a:tc>
                <a:extLst>
                  <a:ext uri="{0D108BD9-81ED-4DB2-BD59-A6C34878D82A}">
                    <a16:rowId xmlns:a16="http://schemas.microsoft.com/office/drawing/2014/main" val="967146951"/>
                  </a:ext>
                </a:extLst>
              </a:tr>
            </a:tbl>
          </a:graphicData>
        </a:graphic>
      </p:graphicFrame>
    </p:spTree>
    <p:extLst>
      <p:ext uri="{BB962C8B-B14F-4D97-AF65-F5344CB8AC3E}">
        <p14:creationId xmlns:p14="http://schemas.microsoft.com/office/powerpoint/2010/main" val="1353179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27AF52-50EA-C1A6-78F3-061FA47ADEBB}"/>
              </a:ext>
            </a:extLst>
          </p:cNvPr>
          <p:cNvGraphicFramePr>
            <a:graphicFrameLocks noGrp="1"/>
          </p:cNvGraphicFramePr>
          <p:nvPr>
            <p:extLst>
              <p:ext uri="{D42A27DB-BD31-4B8C-83A1-F6EECF244321}">
                <p14:modId xmlns:p14="http://schemas.microsoft.com/office/powerpoint/2010/main" val="3372595840"/>
              </p:ext>
            </p:extLst>
          </p:nvPr>
        </p:nvGraphicFramePr>
        <p:xfrm>
          <a:off x="522514" y="876663"/>
          <a:ext cx="13716002" cy="6556103"/>
        </p:xfrm>
        <a:graphic>
          <a:graphicData uri="http://schemas.openxmlformats.org/drawingml/2006/table">
            <a:tbl>
              <a:tblPr firstRow="1" bandRow="1">
                <a:tableStyleId>{5C22544A-7EE6-4342-B048-85BDC9FD1C3A}</a:tableStyleId>
              </a:tblPr>
              <a:tblGrid>
                <a:gridCol w="1319349">
                  <a:extLst>
                    <a:ext uri="{9D8B030D-6E8A-4147-A177-3AD203B41FA5}">
                      <a16:colId xmlns:a16="http://schemas.microsoft.com/office/drawing/2014/main" val="200504866"/>
                    </a:ext>
                  </a:extLst>
                </a:gridCol>
                <a:gridCol w="2429691">
                  <a:extLst>
                    <a:ext uri="{9D8B030D-6E8A-4147-A177-3AD203B41FA5}">
                      <a16:colId xmlns:a16="http://schemas.microsoft.com/office/drawing/2014/main" val="3827308776"/>
                    </a:ext>
                  </a:extLst>
                </a:gridCol>
                <a:gridCol w="2104373">
                  <a:extLst>
                    <a:ext uri="{9D8B030D-6E8A-4147-A177-3AD203B41FA5}">
                      <a16:colId xmlns:a16="http://schemas.microsoft.com/office/drawing/2014/main" val="1388207787"/>
                    </a:ext>
                  </a:extLst>
                </a:gridCol>
                <a:gridCol w="1984303">
                  <a:extLst>
                    <a:ext uri="{9D8B030D-6E8A-4147-A177-3AD203B41FA5}">
                      <a16:colId xmlns:a16="http://schemas.microsoft.com/office/drawing/2014/main" val="2861430568"/>
                    </a:ext>
                  </a:extLst>
                </a:gridCol>
                <a:gridCol w="1384661">
                  <a:extLst>
                    <a:ext uri="{9D8B030D-6E8A-4147-A177-3AD203B41FA5}">
                      <a16:colId xmlns:a16="http://schemas.microsoft.com/office/drawing/2014/main" val="891983239"/>
                    </a:ext>
                  </a:extLst>
                </a:gridCol>
                <a:gridCol w="2207623">
                  <a:extLst>
                    <a:ext uri="{9D8B030D-6E8A-4147-A177-3AD203B41FA5}">
                      <a16:colId xmlns:a16="http://schemas.microsoft.com/office/drawing/2014/main" val="1771654406"/>
                    </a:ext>
                  </a:extLst>
                </a:gridCol>
                <a:gridCol w="2286002">
                  <a:extLst>
                    <a:ext uri="{9D8B030D-6E8A-4147-A177-3AD203B41FA5}">
                      <a16:colId xmlns:a16="http://schemas.microsoft.com/office/drawing/2014/main" val="1889331048"/>
                    </a:ext>
                  </a:extLst>
                </a:gridCol>
              </a:tblGrid>
              <a:tr h="16389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a:t>S .No</a:t>
                      </a:r>
                    </a:p>
                    <a:p>
                      <a:pPr>
                        <a:buNone/>
                      </a:pPr>
                      <a:endParaRPr lang="en-IN" sz="2800"/>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 </a:t>
                      </a:r>
                    </a:p>
                  </a:txBody>
                  <a:tcPr anchor="ctr"/>
                </a:tc>
                <a:extLst>
                  <a:ext uri="{0D108BD9-81ED-4DB2-BD59-A6C34878D82A}">
                    <a16:rowId xmlns:a16="http://schemas.microsoft.com/office/drawing/2014/main" val="2951909754"/>
                  </a:ext>
                </a:extLst>
              </a:tr>
              <a:tr h="2458593">
                <a:tc>
                  <a:txBody>
                    <a:bodyPr/>
                    <a:lstStyle/>
                    <a:p>
                      <a:pPr>
                        <a:buNone/>
                      </a:pPr>
                      <a:r>
                        <a:rPr lang="en-IN" sz="2300" b="1"/>
                        <a:t>7</a:t>
                      </a:r>
                      <a:endParaRPr lang="en-IN" sz="2300"/>
                    </a:p>
                  </a:txBody>
                  <a:tcPr anchor="ctr"/>
                </a:tc>
                <a:tc>
                  <a:txBody>
                    <a:bodyPr/>
                    <a:lstStyle/>
                    <a:p>
                      <a:pPr>
                        <a:buNone/>
                      </a:pPr>
                      <a:r>
                        <a:rPr lang="en-US" sz="2300" b="1"/>
                        <a:t>Academic Project Nexus: Final-Year Project Management System</a:t>
                      </a:r>
                      <a:r>
                        <a:rPr lang="en-US" sz="2300"/>
                        <a:t> </a:t>
                      </a:r>
                    </a:p>
                  </a:txBody>
                  <a:tcPr anchor="ctr"/>
                </a:tc>
                <a:tc>
                  <a:txBody>
                    <a:bodyPr/>
                    <a:lstStyle/>
                    <a:p>
                      <a:pPr>
                        <a:buNone/>
                      </a:pPr>
                      <a:r>
                        <a:rPr lang="en-IN" sz="2300"/>
                        <a:t>R. A. </a:t>
                      </a:r>
                      <a:r>
                        <a:rPr lang="en-IN" sz="2300" err="1"/>
                        <a:t>Helonde</a:t>
                      </a:r>
                      <a:r>
                        <a:rPr lang="en-IN" sz="2300"/>
                        <a:t> et al.</a:t>
                      </a:r>
                    </a:p>
                  </a:txBody>
                  <a:tcPr anchor="ctr"/>
                </a:tc>
                <a:tc>
                  <a:txBody>
                    <a:bodyPr/>
                    <a:lstStyle/>
                    <a:p>
                      <a:pPr>
                        <a:buNone/>
                      </a:pPr>
                      <a:r>
                        <a:rPr lang="en-US" sz="2300" i="1"/>
                        <a:t>IRJMETS</a:t>
                      </a:r>
                      <a:endParaRPr lang="en-US" sz="2300"/>
                    </a:p>
                  </a:txBody>
                  <a:tcPr anchor="ctr"/>
                </a:tc>
                <a:tc>
                  <a:txBody>
                    <a:bodyPr/>
                    <a:lstStyle/>
                    <a:p>
                      <a:pPr>
                        <a:buNone/>
                      </a:pPr>
                      <a:r>
                        <a:rPr lang="en-US" sz="2300" i="1"/>
                        <a:t>2024</a:t>
                      </a:r>
                      <a:endParaRPr lang="en-US" sz="2300"/>
                    </a:p>
                  </a:txBody>
                  <a:tcPr anchor="ctr"/>
                </a:tc>
                <a:tc>
                  <a:txBody>
                    <a:bodyPr/>
                    <a:lstStyle/>
                    <a:p>
                      <a:pPr>
                        <a:buNone/>
                      </a:pPr>
                      <a:r>
                        <a:rPr lang="en-US" sz="2300"/>
                        <a:t>Web app (HTML, CSS, MySQL); authentication</a:t>
                      </a:r>
                    </a:p>
                  </a:txBody>
                  <a:tcPr anchor="ctr"/>
                </a:tc>
                <a:tc>
                  <a:txBody>
                    <a:bodyPr/>
                    <a:lstStyle/>
                    <a:p>
                      <a:pPr>
                        <a:buNone/>
                      </a:pPr>
                      <a:r>
                        <a:rPr lang="en-US" sz="2300" err="1"/>
                        <a:t>Centralised</a:t>
                      </a:r>
                      <a:r>
                        <a:rPr lang="en-US" sz="2300"/>
                        <a:t> repository promoting collaboration and secure documentation.</a:t>
                      </a:r>
                    </a:p>
                  </a:txBody>
                  <a:tcPr anchor="ctr"/>
                </a:tc>
                <a:extLst>
                  <a:ext uri="{0D108BD9-81ED-4DB2-BD59-A6C34878D82A}">
                    <a16:rowId xmlns:a16="http://schemas.microsoft.com/office/drawing/2014/main" val="2355852902"/>
                  </a:ext>
                </a:extLst>
              </a:tr>
              <a:tr h="2458593">
                <a:tc>
                  <a:txBody>
                    <a:bodyPr/>
                    <a:lstStyle/>
                    <a:p>
                      <a:pPr>
                        <a:buNone/>
                      </a:pPr>
                      <a:r>
                        <a:rPr lang="en-IN" sz="2300" b="1"/>
                        <a:t>8</a:t>
                      </a:r>
                      <a:endParaRPr lang="en-IN" sz="2300"/>
                    </a:p>
                  </a:txBody>
                  <a:tcPr anchor="ctr"/>
                </a:tc>
                <a:tc>
                  <a:txBody>
                    <a:bodyPr/>
                    <a:lstStyle/>
                    <a:p>
                      <a:pPr>
                        <a:buNone/>
                      </a:pPr>
                      <a:r>
                        <a:rPr lang="en-US" sz="2300" b="1"/>
                        <a:t>Responsive Web-Based Final-Year Project Repository (FYPRS)</a:t>
                      </a:r>
                      <a:r>
                        <a:rPr lang="en-US" sz="2300"/>
                        <a:t> </a:t>
                      </a:r>
                    </a:p>
                  </a:txBody>
                  <a:tcPr anchor="ctr"/>
                </a:tc>
                <a:tc>
                  <a:txBody>
                    <a:bodyPr/>
                    <a:lstStyle/>
                    <a:p>
                      <a:pPr>
                        <a:buNone/>
                      </a:pPr>
                      <a:r>
                        <a:rPr lang="pl-PL" sz="2300"/>
                        <a:t>O. I. Uzugogbo &amp; A. M. Kolade</a:t>
                      </a:r>
                    </a:p>
                  </a:txBody>
                  <a:tcPr anchor="ctr"/>
                </a:tc>
                <a:tc>
                  <a:txBody>
                    <a:bodyPr/>
                    <a:lstStyle/>
                    <a:p>
                      <a:pPr>
                        <a:buNone/>
                      </a:pPr>
                      <a:r>
                        <a:rPr lang="en-US" sz="2300" i="1"/>
                        <a:t>WJAETS</a:t>
                      </a:r>
                      <a:endParaRPr lang="en-IN" sz="2300"/>
                    </a:p>
                  </a:txBody>
                  <a:tcPr anchor="ctr"/>
                </a:tc>
                <a:tc>
                  <a:txBody>
                    <a:bodyPr/>
                    <a:lstStyle/>
                    <a:p>
                      <a:pPr>
                        <a:buNone/>
                      </a:pPr>
                      <a:r>
                        <a:rPr lang="en-US" sz="2300"/>
                        <a:t>2024</a:t>
                      </a:r>
                    </a:p>
                  </a:txBody>
                  <a:tcPr anchor="ctr"/>
                </a:tc>
                <a:tc>
                  <a:txBody>
                    <a:bodyPr/>
                    <a:lstStyle/>
                    <a:p>
                      <a:pPr>
                        <a:buNone/>
                      </a:pPr>
                      <a:r>
                        <a:rPr lang="en-IN" sz="2300"/>
                        <a:t>Laravel framework; usability testing</a:t>
                      </a:r>
                    </a:p>
                  </a:txBody>
                  <a:tcPr anchor="ctr"/>
                </a:tc>
                <a:tc>
                  <a:txBody>
                    <a:bodyPr/>
                    <a:lstStyle/>
                    <a:p>
                      <a:pPr>
                        <a:buNone/>
                      </a:pPr>
                      <a:r>
                        <a:rPr lang="en-US" sz="2300"/>
                        <a:t>Simplified project submission + evaluation; proved high user adoption.</a:t>
                      </a:r>
                    </a:p>
                  </a:txBody>
                  <a:tcPr anchor="ctr"/>
                </a:tc>
                <a:extLst>
                  <a:ext uri="{0D108BD9-81ED-4DB2-BD59-A6C34878D82A}">
                    <a16:rowId xmlns:a16="http://schemas.microsoft.com/office/drawing/2014/main" val="967146951"/>
                  </a:ext>
                </a:extLst>
              </a:tr>
            </a:tbl>
          </a:graphicData>
        </a:graphic>
      </p:graphicFrame>
      <p:pic>
        <p:nvPicPr>
          <p:cNvPr id="3" name="Picture 2">
            <a:extLst>
              <a:ext uri="{FF2B5EF4-FFF2-40B4-BE49-F238E27FC236}">
                <a16:creationId xmlns:a16="http://schemas.microsoft.com/office/drawing/2014/main" id="{A819985A-57A9-C5DF-C06B-1FA1AD0A81FC}"/>
              </a:ext>
            </a:extLst>
          </p:cNvPr>
          <p:cNvPicPr>
            <a:picLocks noChangeAspect="1"/>
          </p:cNvPicPr>
          <p:nvPr/>
        </p:nvPicPr>
        <p:blipFill>
          <a:blip r:embed="rId2"/>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3062431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48A1A6-A891-FB16-28B4-A92D643607BB}"/>
              </a:ext>
            </a:extLst>
          </p:cNvPr>
          <p:cNvPicPr>
            <a:picLocks noChangeAspect="1"/>
          </p:cNvPicPr>
          <p:nvPr/>
        </p:nvPicPr>
        <p:blipFill>
          <a:blip r:embed="rId2"/>
          <a:stretch>
            <a:fillRect/>
          </a:stretch>
        </p:blipFill>
        <p:spPr>
          <a:xfrm>
            <a:off x="12100341" y="7802991"/>
            <a:ext cx="2530059" cy="426609"/>
          </a:xfrm>
          <a:prstGeom prst="rect">
            <a:avLst/>
          </a:prstGeom>
        </p:spPr>
      </p:pic>
      <p:graphicFrame>
        <p:nvGraphicFramePr>
          <p:cNvPr id="3" name="Table 2">
            <a:extLst>
              <a:ext uri="{FF2B5EF4-FFF2-40B4-BE49-F238E27FC236}">
                <a16:creationId xmlns:a16="http://schemas.microsoft.com/office/drawing/2014/main" id="{676022C2-FEFF-C7C6-7F46-F97B758F13FB}"/>
              </a:ext>
            </a:extLst>
          </p:cNvPr>
          <p:cNvGraphicFramePr>
            <a:graphicFrameLocks noGrp="1"/>
          </p:cNvGraphicFramePr>
          <p:nvPr>
            <p:extLst>
              <p:ext uri="{D42A27DB-BD31-4B8C-83A1-F6EECF244321}">
                <p14:modId xmlns:p14="http://schemas.microsoft.com/office/powerpoint/2010/main" val="2743233677"/>
              </p:ext>
            </p:extLst>
          </p:nvPr>
        </p:nvGraphicFramePr>
        <p:xfrm>
          <a:off x="522514" y="863600"/>
          <a:ext cx="13611499" cy="6647543"/>
        </p:xfrm>
        <a:graphic>
          <a:graphicData uri="http://schemas.openxmlformats.org/drawingml/2006/table">
            <a:tbl>
              <a:tblPr firstRow="1" bandRow="1">
                <a:tableStyleId>{5C22544A-7EE6-4342-B048-85BDC9FD1C3A}</a:tableStyleId>
              </a:tblPr>
              <a:tblGrid>
                <a:gridCol w="1227909">
                  <a:extLst>
                    <a:ext uri="{9D8B030D-6E8A-4147-A177-3AD203B41FA5}">
                      <a16:colId xmlns:a16="http://schemas.microsoft.com/office/drawing/2014/main" val="200504866"/>
                    </a:ext>
                  </a:extLst>
                </a:gridCol>
                <a:gridCol w="2429691">
                  <a:extLst>
                    <a:ext uri="{9D8B030D-6E8A-4147-A177-3AD203B41FA5}">
                      <a16:colId xmlns:a16="http://schemas.microsoft.com/office/drawing/2014/main" val="3827308776"/>
                    </a:ext>
                  </a:extLst>
                </a:gridCol>
                <a:gridCol w="2151215">
                  <a:extLst>
                    <a:ext uri="{9D8B030D-6E8A-4147-A177-3AD203B41FA5}">
                      <a16:colId xmlns:a16="http://schemas.microsoft.com/office/drawing/2014/main" val="1388207787"/>
                    </a:ext>
                  </a:extLst>
                </a:gridCol>
                <a:gridCol w="1976648">
                  <a:extLst>
                    <a:ext uri="{9D8B030D-6E8A-4147-A177-3AD203B41FA5}">
                      <a16:colId xmlns:a16="http://schemas.microsoft.com/office/drawing/2014/main" val="2861430568"/>
                    </a:ext>
                  </a:extLst>
                </a:gridCol>
                <a:gridCol w="1698172">
                  <a:extLst>
                    <a:ext uri="{9D8B030D-6E8A-4147-A177-3AD203B41FA5}">
                      <a16:colId xmlns:a16="http://schemas.microsoft.com/office/drawing/2014/main" val="891983239"/>
                    </a:ext>
                  </a:extLst>
                </a:gridCol>
                <a:gridCol w="2183364">
                  <a:extLst>
                    <a:ext uri="{9D8B030D-6E8A-4147-A177-3AD203B41FA5}">
                      <a16:colId xmlns:a16="http://schemas.microsoft.com/office/drawing/2014/main" val="1771654406"/>
                    </a:ext>
                  </a:extLst>
                </a:gridCol>
                <a:gridCol w="1944500">
                  <a:extLst>
                    <a:ext uri="{9D8B030D-6E8A-4147-A177-3AD203B41FA5}">
                      <a16:colId xmlns:a16="http://schemas.microsoft.com/office/drawing/2014/main" val="1889331048"/>
                    </a:ext>
                  </a:extLst>
                </a:gridCol>
              </a:tblGrid>
              <a:tr h="18941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a:t>S .No</a:t>
                      </a:r>
                    </a:p>
                    <a:p>
                      <a:pPr>
                        <a:buNone/>
                      </a:pPr>
                      <a:endParaRPr lang="en-IN" sz="2800"/>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 </a:t>
                      </a:r>
                    </a:p>
                  </a:txBody>
                  <a:tcPr anchor="ctr"/>
                </a:tc>
                <a:extLst>
                  <a:ext uri="{0D108BD9-81ED-4DB2-BD59-A6C34878D82A}">
                    <a16:rowId xmlns:a16="http://schemas.microsoft.com/office/drawing/2014/main" val="2951909754"/>
                  </a:ext>
                </a:extLst>
              </a:tr>
              <a:tr h="2376705">
                <a:tc>
                  <a:txBody>
                    <a:bodyPr/>
                    <a:lstStyle/>
                    <a:p>
                      <a:pPr>
                        <a:buNone/>
                      </a:pPr>
                      <a:r>
                        <a:rPr lang="en-IN" sz="2300" b="1"/>
                        <a:t>9</a:t>
                      </a:r>
                      <a:endParaRPr lang="en-IN" sz="2300"/>
                    </a:p>
                  </a:txBody>
                  <a:tcPr anchor="ctr"/>
                </a:tc>
                <a:tc>
                  <a:txBody>
                    <a:bodyPr/>
                    <a:lstStyle/>
                    <a:p>
                      <a:pPr>
                        <a:buNone/>
                      </a:pPr>
                      <a:r>
                        <a:rPr lang="en-US" sz="2300" b="1"/>
                        <a:t>University Results Extraction &amp; Analysis Tool</a:t>
                      </a:r>
                      <a:r>
                        <a:rPr lang="en-US" sz="2300"/>
                        <a:t> </a:t>
                      </a:r>
                    </a:p>
                  </a:txBody>
                  <a:tcPr anchor="ctr"/>
                </a:tc>
                <a:tc>
                  <a:txBody>
                    <a:bodyPr/>
                    <a:lstStyle/>
                    <a:p>
                      <a:pPr>
                        <a:buNone/>
                      </a:pPr>
                      <a:r>
                        <a:rPr lang="en-IN" sz="2300"/>
                        <a:t>G. </a:t>
                      </a:r>
                      <a:r>
                        <a:rPr lang="en-IN" sz="2300" err="1"/>
                        <a:t>Geethalaxmi</a:t>
                      </a:r>
                      <a:r>
                        <a:rPr lang="en-IN" sz="2300"/>
                        <a:t> et al.</a:t>
                      </a:r>
                    </a:p>
                  </a:txBody>
                  <a:tcPr anchor="ctr"/>
                </a:tc>
                <a:tc>
                  <a:txBody>
                    <a:bodyPr/>
                    <a:lstStyle/>
                    <a:p>
                      <a:pPr>
                        <a:buNone/>
                      </a:pPr>
                      <a:r>
                        <a:rPr lang="en-US" sz="2300" i="1"/>
                        <a:t>IJAEM</a:t>
                      </a:r>
                      <a:endParaRPr lang="en-IN" sz="2300"/>
                    </a:p>
                  </a:txBody>
                  <a:tcPr anchor="ctr"/>
                </a:tc>
                <a:tc>
                  <a:txBody>
                    <a:bodyPr/>
                    <a:lstStyle/>
                    <a:p>
                      <a:pPr>
                        <a:buNone/>
                      </a:pPr>
                      <a:r>
                        <a:rPr lang="en-US" sz="2300" i="1"/>
                        <a:t>2022</a:t>
                      </a:r>
                      <a:endParaRPr lang="en-US" sz="2300"/>
                    </a:p>
                  </a:txBody>
                  <a:tcPr anchor="ctr"/>
                </a:tc>
                <a:tc>
                  <a:txBody>
                    <a:bodyPr/>
                    <a:lstStyle/>
                    <a:p>
                      <a:pPr>
                        <a:buNone/>
                      </a:pPr>
                      <a:r>
                        <a:rPr lang="en-IN" sz="2300"/>
                        <a:t>Node.js + Python; </a:t>
                      </a:r>
                      <a:r>
                        <a:rPr lang="en-IN" sz="2300" err="1"/>
                        <a:t>OpenPyXL</a:t>
                      </a:r>
                      <a:r>
                        <a:rPr lang="en-IN" sz="2300"/>
                        <a:t>; batch processing</a:t>
                      </a:r>
                    </a:p>
                  </a:txBody>
                  <a:tcPr anchor="ctr"/>
                </a:tc>
                <a:tc>
                  <a:txBody>
                    <a:bodyPr/>
                    <a:lstStyle/>
                    <a:p>
                      <a:pPr>
                        <a:buNone/>
                      </a:pPr>
                      <a:r>
                        <a:rPr lang="en-US" sz="2300"/>
                        <a:t>Automated Excel report generation; minimized manual entry errors.</a:t>
                      </a:r>
                    </a:p>
                  </a:txBody>
                  <a:tcPr anchor="ctr"/>
                </a:tc>
                <a:extLst>
                  <a:ext uri="{0D108BD9-81ED-4DB2-BD59-A6C34878D82A}">
                    <a16:rowId xmlns:a16="http://schemas.microsoft.com/office/drawing/2014/main" val="2355852902"/>
                  </a:ext>
                </a:extLst>
              </a:tr>
              <a:tr h="2376705">
                <a:tc>
                  <a:txBody>
                    <a:bodyPr/>
                    <a:lstStyle/>
                    <a:p>
                      <a:pPr>
                        <a:buNone/>
                      </a:pPr>
                      <a:r>
                        <a:rPr lang="en-IN" sz="2300" b="1"/>
                        <a:t>10</a:t>
                      </a:r>
                      <a:endParaRPr lang="en-IN" sz="2300"/>
                    </a:p>
                  </a:txBody>
                  <a:tcPr anchor="ctr"/>
                </a:tc>
                <a:tc>
                  <a:txBody>
                    <a:bodyPr/>
                    <a:lstStyle/>
                    <a:p>
                      <a:pPr>
                        <a:buNone/>
                      </a:pPr>
                      <a:r>
                        <a:rPr lang="en-US" sz="2300" b="1"/>
                        <a:t>Electronic Learner Data Management System</a:t>
                      </a:r>
                      <a:r>
                        <a:rPr lang="en-US" sz="2300"/>
                        <a:t> </a:t>
                      </a:r>
                    </a:p>
                  </a:txBody>
                  <a:tcPr anchor="ctr"/>
                </a:tc>
                <a:tc>
                  <a:txBody>
                    <a:bodyPr/>
                    <a:lstStyle/>
                    <a:p>
                      <a:pPr>
                        <a:buNone/>
                      </a:pPr>
                      <a:r>
                        <a:rPr lang="en-IN" sz="2300"/>
                        <a:t>M. N. De Guzman et al.</a:t>
                      </a:r>
                    </a:p>
                  </a:txBody>
                  <a:tcPr anchor="ctr"/>
                </a:tc>
                <a:tc>
                  <a:txBody>
                    <a:bodyPr/>
                    <a:lstStyle/>
                    <a:p>
                      <a:pPr>
                        <a:buNone/>
                      </a:pPr>
                      <a:r>
                        <a:rPr lang="en-US" sz="2300" i="1"/>
                        <a:t>IJRISS</a:t>
                      </a:r>
                      <a:endParaRPr lang="en-IN" sz="2300"/>
                    </a:p>
                  </a:txBody>
                  <a:tcPr anchor="ctr"/>
                </a:tc>
                <a:tc>
                  <a:txBody>
                    <a:bodyPr/>
                    <a:lstStyle/>
                    <a:p>
                      <a:pPr>
                        <a:buNone/>
                      </a:pPr>
                      <a:r>
                        <a:rPr lang="en-US" sz="2300"/>
                        <a:t>2024</a:t>
                      </a:r>
                    </a:p>
                  </a:txBody>
                  <a:tcPr anchor="ctr"/>
                </a:tc>
                <a:tc>
                  <a:txBody>
                    <a:bodyPr/>
                    <a:lstStyle/>
                    <a:p>
                      <a:pPr>
                        <a:buNone/>
                      </a:pPr>
                      <a:r>
                        <a:rPr lang="en-IN" sz="2300"/>
                        <a:t>SDLC + Agile; TAM evaluation</a:t>
                      </a:r>
                    </a:p>
                  </a:txBody>
                  <a:tcPr anchor="ctr"/>
                </a:tc>
                <a:tc>
                  <a:txBody>
                    <a:bodyPr/>
                    <a:lstStyle/>
                    <a:p>
                      <a:pPr>
                        <a:buNone/>
                      </a:pPr>
                      <a:r>
                        <a:rPr lang="en-US" sz="2300"/>
                        <a:t>Improved data accuracy and record retrieval; strong user acceptance.</a:t>
                      </a:r>
                    </a:p>
                  </a:txBody>
                  <a:tcPr anchor="ctr"/>
                </a:tc>
                <a:extLst>
                  <a:ext uri="{0D108BD9-81ED-4DB2-BD59-A6C34878D82A}">
                    <a16:rowId xmlns:a16="http://schemas.microsoft.com/office/drawing/2014/main" val="967146951"/>
                  </a:ext>
                </a:extLst>
              </a:tr>
            </a:tbl>
          </a:graphicData>
        </a:graphic>
      </p:graphicFrame>
    </p:spTree>
    <p:extLst>
      <p:ext uri="{BB962C8B-B14F-4D97-AF65-F5344CB8AC3E}">
        <p14:creationId xmlns:p14="http://schemas.microsoft.com/office/powerpoint/2010/main" val="4282029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D78ADD-7C80-B480-720A-B8FDAA5FA6F5}"/>
              </a:ext>
            </a:extLst>
          </p:cNvPr>
          <p:cNvSpPr txBox="1"/>
          <p:nvPr/>
        </p:nvSpPr>
        <p:spPr>
          <a:xfrm>
            <a:off x="352697" y="142473"/>
            <a:ext cx="13546183" cy="7873822"/>
          </a:xfrm>
          <a:prstGeom prst="rect">
            <a:avLst/>
          </a:prstGeom>
          <a:noFill/>
        </p:spPr>
        <p:txBody>
          <a:bodyPr wrap="square" rtlCol="0">
            <a:spAutoFit/>
          </a:bodyPr>
          <a:lstStyle/>
          <a:p>
            <a:pPr>
              <a:lnSpc>
                <a:spcPct val="150000"/>
              </a:lnSpc>
            </a:pPr>
            <a:r>
              <a:rPr lang="en-US" sz="3200" b="1" dirty="0">
                <a:solidFill>
                  <a:schemeClr val="bg1"/>
                </a:solidFill>
              </a:rPr>
              <a:t>Summary of Literature Review</a:t>
            </a:r>
          </a:p>
          <a:p>
            <a:pPr marL="457200" indent="-457200">
              <a:lnSpc>
                <a:spcPct val="150000"/>
              </a:lnSpc>
              <a:buFont typeface="Arial" panose="020B0604020202020204" pitchFamily="34" charset="0"/>
              <a:buChar char="•"/>
            </a:pPr>
            <a:r>
              <a:rPr lang="en-US" sz="2800" dirty="0">
                <a:solidFill>
                  <a:schemeClr val="bg1"/>
                </a:solidFill>
              </a:rPr>
              <a:t>Most studies propose web-based systems to manage academic projects and automate evaluations.</a:t>
            </a:r>
          </a:p>
          <a:p>
            <a:pPr marL="457200" indent="-457200">
              <a:lnSpc>
                <a:spcPct val="150000"/>
              </a:lnSpc>
              <a:buFont typeface="Arial" panose="020B0604020202020204" pitchFamily="34" charset="0"/>
              <a:buChar char="•"/>
            </a:pPr>
            <a:r>
              <a:rPr lang="en-US" sz="2800" dirty="0">
                <a:solidFill>
                  <a:schemeClr val="bg1"/>
                </a:solidFill>
              </a:rPr>
              <a:t>Many solutions lack integration between submission, evaluation, and reporting workflows.</a:t>
            </a:r>
          </a:p>
          <a:p>
            <a:pPr marL="457200" indent="-457200">
              <a:lnSpc>
                <a:spcPct val="150000"/>
              </a:lnSpc>
              <a:buFont typeface="Arial" panose="020B0604020202020204" pitchFamily="34" charset="0"/>
              <a:buChar char="•"/>
            </a:pPr>
            <a:r>
              <a:rPr lang="en-US" sz="2800" dirty="0">
                <a:solidFill>
                  <a:schemeClr val="bg1"/>
                </a:solidFill>
              </a:rPr>
              <a:t>Role-based access and centralized data improve transparency and reduce administrative load.</a:t>
            </a:r>
          </a:p>
          <a:p>
            <a:pPr marL="457200" indent="-457200">
              <a:lnSpc>
                <a:spcPct val="150000"/>
              </a:lnSpc>
              <a:buFont typeface="Arial" panose="020B0604020202020204" pitchFamily="34" charset="0"/>
              <a:buChar char="•"/>
            </a:pPr>
            <a:r>
              <a:rPr lang="en-US" sz="2800" dirty="0">
                <a:solidFill>
                  <a:schemeClr val="bg1"/>
                </a:solidFill>
              </a:rPr>
              <a:t>Automation of report generation (e.g., Excel) is still emerging and not widely adopted.</a:t>
            </a:r>
          </a:p>
          <a:p>
            <a:pPr marL="457200" indent="-457200">
              <a:lnSpc>
                <a:spcPct val="150000"/>
              </a:lnSpc>
              <a:buFont typeface="Arial" panose="020B0604020202020204" pitchFamily="34" charset="0"/>
              <a:buChar char="•"/>
            </a:pPr>
            <a:r>
              <a:rPr lang="en-US" sz="2800" dirty="0">
                <a:solidFill>
                  <a:schemeClr val="bg1"/>
                </a:solidFill>
              </a:rPr>
              <a:t>Intelligent guide assignment and domain-based project mapping are rarely explored.</a:t>
            </a:r>
          </a:p>
          <a:p>
            <a:pPr marL="457200" indent="-457200">
              <a:lnSpc>
                <a:spcPct val="150000"/>
              </a:lnSpc>
              <a:buFont typeface="Arial" panose="020B0604020202020204" pitchFamily="34" charset="0"/>
              <a:buChar char="•"/>
            </a:pPr>
            <a:r>
              <a:rPr lang="en-US" sz="2800" dirty="0">
                <a:solidFill>
                  <a:schemeClr val="bg1"/>
                </a:solidFill>
              </a:rPr>
              <a:t>Few systems support bulk reporting or prevent project topic duplication.</a:t>
            </a:r>
          </a:p>
          <a:p>
            <a:pPr marL="457200" indent="-457200">
              <a:lnSpc>
                <a:spcPct val="150000"/>
              </a:lnSpc>
              <a:buFont typeface="Arial" panose="020B0604020202020204" pitchFamily="34" charset="0"/>
              <a:buChar char="•"/>
            </a:pPr>
            <a:r>
              <a:rPr lang="en-US" sz="2800" dirty="0">
                <a:solidFill>
                  <a:schemeClr val="bg1"/>
                </a:solidFill>
              </a:rPr>
              <a:t>PMES addresses these limitations by combining evaluation automation, structured reporting, and intelligent guide allocation.</a:t>
            </a:r>
          </a:p>
        </p:txBody>
      </p:sp>
      <p:pic>
        <p:nvPicPr>
          <p:cNvPr id="4" name="Picture 3">
            <a:extLst>
              <a:ext uri="{FF2B5EF4-FFF2-40B4-BE49-F238E27FC236}">
                <a16:creationId xmlns:a16="http://schemas.microsoft.com/office/drawing/2014/main" id="{321C5E8D-3EF0-C3A8-26EA-33835778E668}"/>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1632926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DEF593-27C6-96B8-F159-B9B3BD1B957F}"/>
              </a:ext>
            </a:extLst>
          </p:cNvPr>
          <p:cNvSpPr txBox="1"/>
          <p:nvPr/>
        </p:nvSpPr>
        <p:spPr>
          <a:xfrm>
            <a:off x="577516" y="614753"/>
            <a:ext cx="12548938" cy="1077218"/>
          </a:xfrm>
          <a:prstGeom prst="rect">
            <a:avLst/>
          </a:prstGeom>
          <a:noFill/>
        </p:spPr>
        <p:txBody>
          <a:bodyPr wrap="square">
            <a:spAutoFit/>
          </a:bodyPr>
          <a:lstStyle/>
          <a:p>
            <a:pPr>
              <a:buNone/>
            </a:pPr>
            <a:r>
              <a:rPr lang="en-US" sz="3600" b="1">
                <a:solidFill>
                  <a:schemeClr val="bg1"/>
                </a:solidFill>
              </a:rPr>
              <a:t>Objectives</a:t>
            </a:r>
          </a:p>
          <a:p>
            <a:pPr>
              <a:buFont typeface="Arial" panose="020B0604020202020204" pitchFamily="34" charset="0"/>
              <a:buChar char="•"/>
            </a:pPr>
            <a:endParaRPr lang="en-US" sz="2800">
              <a:solidFill>
                <a:schemeClr val="bg1"/>
              </a:solidFill>
            </a:endParaRPr>
          </a:p>
        </p:txBody>
      </p:sp>
      <p:pic>
        <p:nvPicPr>
          <p:cNvPr id="4" name="Picture 3">
            <a:extLst>
              <a:ext uri="{FF2B5EF4-FFF2-40B4-BE49-F238E27FC236}">
                <a16:creationId xmlns:a16="http://schemas.microsoft.com/office/drawing/2014/main" id="{3FD85695-F3B7-51A7-18EB-5B8D8D66A064}"/>
              </a:ext>
            </a:extLst>
          </p:cNvPr>
          <p:cNvPicPr>
            <a:picLocks noChangeAspect="1"/>
          </p:cNvPicPr>
          <p:nvPr/>
        </p:nvPicPr>
        <p:blipFill>
          <a:blip r:embed="rId2"/>
          <a:stretch>
            <a:fillRect/>
          </a:stretch>
        </p:blipFill>
        <p:spPr>
          <a:xfrm>
            <a:off x="12100341" y="7802991"/>
            <a:ext cx="2530059" cy="426609"/>
          </a:xfrm>
          <a:prstGeom prst="rect">
            <a:avLst/>
          </a:prstGeom>
        </p:spPr>
      </p:pic>
      <p:sp>
        <p:nvSpPr>
          <p:cNvPr id="2" name="Rectangle 1">
            <a:extLst>
              <a:ext uri="{FF2B5EF4-FFF2-40B4-BE49-F238E27FC236}">
                <a16:creationId xmlns:a16="http://schemas.microsoft.com/office/drawing/2014/main" id="{3B7399CF-EA5D-AA81-8E8E-5B4F44AA1C08}"/>
              </a:ext>
            </a:extLst>
          </p:cNvPr>
          <p:cNvSpPr>
            <a:spLocks noChangeArrowheads="1"/>
          </p:cNvSpPr>
          <p:nvPr/>
        </p:nvSpPr>
        <p:spPr bwMode="auto">
          <a:xfrm>
            <a:off x="577516" y="1758178"/>
            <a:ext cx="13260404" cy="3359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FontTx/>
              <a:buChar char="•"/>
            </a:pPr>
            <a:r>
              <a:rPr lang="en-US" sz="2400" b="1" dirty="0">
                <a:solidFill>
                  <a:schemeClr val="bg1"/>
                </a:solidFill>
              </a:rPr>
              <a:t>Design a Relational Database for Multi-Phase Evaluation Tracking</a:t>
            </a:r>
            <a:endParaRPr kumimoji="0" lang="en-US" altLang="en-US" sz="2400" b="0" i="0" u="none" strike="noStrike" cap="none" normalizeH="0" baseline="0" dirty="0">
              <a:ln>
                <a:noFill/>
              </a:ln>
              <a:solidFill>
                <a:schemeClr val="bg1"/>
              </a:solidFill>
              <a:effectLst/>
            </a:endParaRPr>
          </a:p>
          <a:p>
            <a:pPr lvl="0" eaLnBrk="0" fontAlgn="base" hangingPunct="0">
              <a:lnSpc>
                <a:spcPct val="150000"/>
              </a:lnSpc>
              <a:spcBef>
                <a:spcPct val="0"/>
              </a:spcBef>
              <a:spcAft>
                <a:spcPct val="0"/>
              </a:spcAft>
              <a:buFontTx/>
              <a:buChar char="•"/>
            </a:pPr>
            <a:r>
              <a:rPr lang="en-IN" sz="2400" b="1" dirty="0">
                <a:solidFill>
                  <a:schemeClr val="bg1"/>
                </a:solidFill>
              </a:rPr>
              <a:t>Automate Multi-Evaluator Mark Aggregation</a:t>
            </a:r>
          </a:p>
          <a:p>
            <a:pPr lvl="0" eaLnBrk="0" fontAlgn="base" hangingPunct="0">
              <a:lnSpc>
                <a:spcPct val="150000"/>
              </a:lnSpc>
              <a:spcBef>
                <a:spcPct val="0"/>
              </a:spcBef>
              <a:spcAft>
                <a:spcPct val="0"/>
              </a:spcAft>
              <a:buFontTx/>
              <a:buChar char="•"/>
            </a:pPr>
            <a:r>
              <a:rPr lang="en-US" sz="2400" b="1" dirty="0">
                <a:solidFill>
                  <a:schemeClr val="bg1"/>
                </a:solidFill>
              </a:rPr>
              <a:t>Develop a Dynamic Data Ingestion Engine</a:t>
            </a:r>
            <a:endParaRPr lang="en-US" altLang="en-US" sz="2400" dirty="0">
              <a:solidFill>
                <a:schemeClr val="bg1"/>
              </a:solidFill>
            </a:endParaRPr>
          </a:p>
          <a:p>
            <a:pPr eaLnBrk="0" fontAlgn="base" hangingPunct="0">
              <a:lnSpc>
                <a:spcPct val="150000"/>
              </a:lnSpc>
              <a:spcBef>
                <a:spcPct val="0"/>
              </a:spcBef>
              <a:spcAft>
                <a:spcPct val="0"/>
              </a:spcAft>
              <a:buFontTx/>
              <a:buChar char="•"/>
            </a:pPr>
            <a:r>
              <a:rPr lang="en-IN" sz="2400" b="1" dirty="0">
                <a:solidFill>
                  <a:schemeClr val="bg1"/>
                </a:solidFill>
              </a:rPr>
              <a:t>Provide Multi-View Dashboards</a:t>
            </a:r>
          </a:p>
          <a:p>
            <a:pPr eaLnBrk="0" fontAlgn="base" hangingPunct="0">
              <a:lnSpc>
                <a:spcPct val="150000"/>
              </a:lnSpc>
              <a:spcBef>
                <a:spcPct val="0"/>
              </a:spcBef>
              <a:spcAft>
                <a:spcPct val="0"/>
              </a:spcAft>
              <a:buFontTx/>
              <a:buChar char="•"/>
            </a:pPr>
            <a:r>
              <a:rPr lang="en-US" sz="2400" b="1" dirty="0">
                <a:solidFill>
                  <a:schemeClr val="bg1"/>
                </a:solidFill>
              </a:rPr>
              <a:t>Ensure Data Integrity and System Scalability</a:t>
            </a:r>
          </a:p>
          <a:p>
            <a:pPr eaLnBrk="0" fontAlgn="base" hangingPunct="0">
              <a:lnSpc>
                <a:spcPct val="150000"/>
              </a:lnSpc>
              <a:spcBef>
                <a:spcPct val="0"/>
              </a:spcBef>
              <a:spcAft>
                <a:spcPct val="0"/>
              </a:spcAft>
              <a:buFontTx/>
              <a:buChar char="•"/>
            </a:pPr>
            <a:r>
              <a:rPr lang="en-IN" sz="2400" b="1" dirty="0">
                <a:solidFill>
                  <a:schemeClr val="bg1"/>
                </a:solidFill>
              </a:rPr>
              <a:t>Generate NBA/NAAC-Compliant Audit Reports</a:t>
            </a:r>
            <a:endParaRPr kumimoji="0" lang="en-US" altLang="en-US" sz="2400"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4203002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443266-CC31-4A8B-0CC8-5C2E87DA364E}"/>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4" name="Picture 3">
            <a:extLst>
              <a:ext uri="{FF2B5EF4-FFF2-40B4-BE49-F238E27FC236}">
                <a16:creationId xmlns:a16="http://schemas.microsoft.com/office/drawing/2014/main" id="{85BA504A-8B0D-6D5E-4571-BC1D5973A64F}"/>
              </a:ext>
            </a:extLst>
          </p:cNvPr>
          <p:cNvPicPr>
            <a:picLocks noChangeAspect="1"/>
          </p:cNvPicPr>
          <p:nvPr/>
        </p:nvPicPr>
        <p:blipFill>
          <a:blip r:embed="rId2"/>
          <a:stretch>
            <a:fillRect/>
          </a:stretch>
        </p:blipFill>
        <p:spPr>
          <a:xfrm>
            <a:off x="11947941" y="7784863"/>
            <a:ext cx="2530059" cy="426609"/>
          </a:xfrm>
          <a:prstGeom prst="rect">
            <a:avLst/>
          </a:prstGeom>
        </p:spPr>
      </p:pic>
      <p:sp>
        <p:nvSpPr>
          <p:cNvPr id="5" name="TextBox 4">
            <a:extLst>
              <a:ext uri="{FF2B5EF4-FFF2-40B4-BE49-F238E27FC236}">
                <a16:creationId xmlns:a16="http://schemas.microsoft.com/office/drawing/2014/main" id="{1B901E30-A66E-2ABE-4D50-C87FE004D4CA}"/>
              </a:ext>
            </a:extLst>
          </p:cNvPr>
          <p:cNvSpPr txBox="1"/>
          <p:nvPr/>
        </p:nvSpPr>
        <p:spPr>
          <a:xfrm>
            <a:off x="204537" y="-109343"/>
            <a:ext cx="14040852" cy="7098546"/>
          </a:xfrm>
          <a:prstGeom prst="rect">
            <a:avLst/>
          </a:prstGeom>
          <a:noFill/>
        </p:spPr>
        <p:txBody>
          <a:bodyPr wrap="square" rtlCol="0">
            <a:spAutoFit/>
          </a:bodyPr>
          <a:lstStyle/>
          <a:p>
            <a:pPr>
              <a:lnSpc>
                <a:spcPct val="150000"/>
              </a:lnSpc>
            </a:pPr>
            <a:endParaRPr lang="en-US" sz="2400" dirty="0">
              <a:solidFill>
                <a:schemeClr val="bg1"/>
              </a:solidFill>
            </a:endParaRPr>
          </a:p>
          <a:p>
            <a:pPr>
              <a:lnSpc>
                <a:spcPct val="150000"/>
              </a:lnSpc>
            </a:pPr>
            <a:r>
              <a:rPr lang="en-IN" sz="3400" b="1" dirty="0">
                <a:solidFill>
                  <a:schemeClr val="bg1"/>
                </a:solidFill>
              </a:rPr>
              <a:t>Design : </a:t>
            </a:r>
          </a:p>
          <a:p>
            <a:pPr>
              <a:lnSpc>
                <a:spcPct val="150000"/>
              </a:lnSpc>
            </a:pPr>
            <a:r>
              <a:rPr lang="en-IN" sz="3200" b="1" dirty="0">
                <a:solidFill>
                  <a:schemeClr val="bg1"/>
                </a:solidFill>
              </a:rPr>
              <a:t>System Architecture :</a:t>
            </a:r>
          </a:p>
          <a:p>
            <a:pPr marL="800100" lvl="1" indent="-342900">
              <a:lnSpc>
                <a:spcPct val="150000"/>
              </a:lnSpc>
              <a:buFont typeface="Arial" panose="020B0604020202020204" pitchFamily="34" charset="0"/>
              <a:buChar char="•"/>
            </a:pPr>
            <a:r>
              <a:rPr lang="en-US" sz="2400" dirty="0">
                <a:solidFill>
                  <a:schemeClr val="bg1"/>
                </a:solidFill>
              </a:rPr>
              <a:t>The </a:t>
            </a:r>
            <a:r>
              <a:rPr lang="en-US" sz="2400" b="1" dirty="0">
                <a:solidFill>
                  <a:schemeClr val="bg1"/>
                </a:solidFill>
              </a:rPr>
              <a:t>System Architecture</a:t>
            </a:r>
            <a:r>
              <a:rPr lang="en-US" sz="2400" dirty="0">
                <a:solidFill>
                  <a:schemeClr val="bg1"/>
                </a:solidFill>
              </a:rPr>
              <a:t> of the Project Management Evaluation System (PMES) follows a modular, layered design to ensure scalability and maintainability. It consists of three main layers — </a:t>
            </a:r>
            <a:r>
              <a:rPr lang="en-US" sz="2400" b="1" dirty="0">
                <a:solidFill>
                  <a:schemeClr val="bg1"/>
                </a:solidFill>
              </a:rPr>
              <a:t>Presentation Layer</a:t>
            </a:r>
            <a:r>
              <a:rPr lang="en-US" sz="2400" dirty="0">
                <a:solidFill>
                  <a:schemeClr val="bg1"/>
                </a:solidFill>
              </a:rPr>
              <a:t>, </a:t>
            </a:r>
            <a:r>
              <a:rPr lang="en-US" sz="2400" b="1" dirty="0">
                <a:solidFill>
                  <a:schemeClr val="bg1"/>
                </a:solidFill>
              </a:rPr>
              <a:t>Application Layer</a:t>
            </a:r>
            <a:r>
              <a:rPr lang="en-US" sz="2400" dirty="0">
                <a:solidFill>
                  <a:schemeClr val="bg1"/>
                </a:solidFill>
              </a:rPr>
              <a:t>, and </a:t>
            </a:r>
            <a:r>
              <a:rPr lang="en-US" sz="2400" b="1" dirty="0">
                <a:solidFill>
                  <a:schemeClr val="bg1"/>
                </a:solidFill>
              </a:rPr>
              <a:t>Data Layer</a:t>
            </a:r>
            <a:r>
              <a:rPr lang="en-US" sz="2400" dirty="0">
                <a:solidFill>
                  <a:schemeClr val="bg1"/>
                </a:solidFill>
              </a:rPr>
              <a:t>.</a:t>
            </a:r>
            <a:br>
              <a:rPr lang="en-US" sz="2400" dirty="0">
                <a:solidFill>
                  <a:schemeClr val="bg1"/>
                </a:solidFill>
              </a:rPr>
            </a:br>
            <a:r>
              <a:rPr lang="en-US" sz="2400" dirty="0">
                <a:solidFill>
                  <a:schemeClr val="bg1"/>
                </a:solidFill>
              </a:rPr>
              <a:t>The </a:t>
            </a:r>
            <a:r>
              <a:rPr lang="en-US" sz="2400" b="1" dirty="0">
                <a:solidFill>
                  <a:schemeClr val="bg1"/>
                </a:solidFill>
              </a:rPr>
              <a:t>Presentation Layer</a:t>
            </a:r>
            <a:r>
              <a:rPr lang="en-US" sz="2400" dirty="0">
                <a:solidFill>
                  <a:schemeClr val="bg1"/>
                </a:solidFill>
              </a:rPr>
              <a:t> provides an intuitive user interface.</a:t>
            </a:r>
          </a:p>
          <a:p>
            <a:pPr marL="800100" lvl="1" indent="-342900">
              <a:lnSpc>
                <a:spcPct val="150000"/>
              </a:lnSpc>
              <a:buFont typeface="Arial" panose="020B0604020202020204" pitchFamily="34" charset="0"/>
              <a:buChar char="•"/>
            </a:pPr>
            <a:r>
              <a:rPr lang="en-US" sz="2400" dirty="0">
                <a:solidFill>
                  <a:schemeClr val="bg1"/>
                </a:solidFill>
              </a:rPr>
              <a:t>The </a:t>
            </a:r>
            <a:r>
              <a:rPr lang="en-US" sz="2400" b="1" dirty="0">
                <a:solidFill>
                  <a:schemeClr val="bg1"/>
                </a:solidFill>
              </a:rPr>
              <a:t>Application Layer</a:t>
            </a:r>
            <a:r>
              <a:rPr lang="en-US" sz="2400" dirty="0">
                <a:solidFill>
                  <a:schemeClr val="bg1"/>
                </a:solidFill>
              </a:rPr>
              <a:t> handles the core logic, including project tracking, evaluation processing, and report generation.</a:t>
            </a:r>
          </a:p>
          <a:p>
            <a:pPr marL="800100" lvl="1" indent="-342900">
              <a:lnSpc>
                <a:spcPct val="150000"/>
              </a:lnSpc>
              <a:buFont typeface="Arial" panose="020B0604020202020204" pitchFamily="34" charset="0"/>
              <a:buChar char="•"/>
            </a:pPr>
            <a:r>
              <a:rPr lang="en-US" sz="2400" dirty="0">
                <a:solidFill>
                  <a:schemeClr val="bg1"/>
                </a:solidFill>
              </a:rPr>
              <a:t> The </a:t>
            </a:r>
            <a:r>
              <a:rPr lang="en-US" sz="2400" b="1" dirty="0">
                <a:solidFill>
                  <a:schemeClr val="bg1"/>
                </a:solidFill>
              </a:rPr>
              <a:t>Data Layer</a:t>
            </a:r>
            <a:r>
              <a:rPr lang="en-US" sz="2400" dirty="0">
                <a:solidFill>
                  <a:schemeClr val="bg1"/>
                </a:solidFill>
              </a:rPr>
              <a:t> manages storage and retrieval operations using a structured database to maintain project, user, and evaluation data securely.</a:t>
            </a:r>
            <a:br>
              <a:rPr lang="en-US" sz="2400" dirty="0">
                <a:solidFill>
                  <a:schemeClr val="bg1"/>
                </a:solidFill>
              </a:rPr>
            </a:br>
            <a:endParaRPr lang="en-IN" sz="2400" dirty="0"/>
          </a:p>
        </p:txBody>
      </p:sp>
    </p:spTree>
    <p:extLst>
      <p:ext uri="{BB962C8B-B14F-4D97-AF65-F5344CB8AC3E}">
        <p14:creationId xmlns:p14="http://schemas.microsoft.com/office/powerpoint/2010/main" val="1807472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548653-D1A7-DEDA-E7AB-01FFAAFD94ED}"/>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4" name="Picture 3" descr="A diagram of a program&#10;&#10;AI-generated content may be incorrect.">
            <a:extLst>
              <a:ext uri="{FF2B5EF4-FFF2-40B4-BE49-F238E27FC236}">
                <a16:creationId xmlns:a16="http://schemas.microsoft.com/office/drawing/2014/main" id="{71908750-286A-E30E-AD28-4285E6B0FF79}"/>
              </a:ext>
            </a:extLst>
          </p:cNvPr>
          <p:cNvPicPr>
            <a:picLocks noChangeAspect="1"/>
          </p:cNvPicPr>
          <p:nvPr/>
        </p:nvPicPr>
        <p:blipFill>
          <a:blip r:embed="rId3"/>
          <a:stretch>
            <a:fillRect/>
          </a:stretch>
        </p:blipFill>
        <p:spPr>
          <a:xfrm>
            <a:off x="3858897" y="176330"/>
            <a:ext cx="6442559" cy="4299417"/>
          </a:xfrm>
          <a:prstGeom prst="rect">
            <a:avLst/>
          </a:prstGeom>
        </p:spPr>
      </p:pic>
      <p:sp>
        <p:nvSpPr>
          <p:cNvPr id="7" name="TextBox 6">
            <a:extLst>
              <a:ext uri="{FF2B5EF4-FFF2-40B4-BE49-F238E27FC236}">
                <a16:creationId xmlns:a16="http://schemas.microsoft.com/office/drawing/2014/main" id="{2954EDE2-F5A3-210A-BCCE-A5F6C4C769C8}"/>
              </a:ext>
            </a:extLst>
          </p:cNvPr>
          <p:cNvSpPr txBox="1"/>
          <p:nvPr/>
        </p:nvSpPr>
        <p:spPr>
          <a:xfrm>
            <a:off x="565485" y="457200"/>
            <a:ext cx="2937407" cy="830997"/>
          </a:xfrm>
          <a:prstGeom prst="rect">
            <a:avLst/>
          </a:prstGeom>
          <a:noFill/>
        </p:spPr>
        <p:txBody>
          <a:bodyPr wrap="none" rtlCol="0">
            <a:spAutoFit/>
          </a:bodyPr>
          <a:lstStyle/>
          <a:p>
            <a:r>
              <a:rPr lang="en-IN" sz="4800" b="1" dirty="0">
                <a:solidFill>
                  <a:schemeClr val="bg1"/>
                </a:solidFill>
              </a:rPr>
              <a:t>Flow Chart</a:t>
            </a:r>
          </a:p>
        </p:txBody>
      </p:sp>
      <p:pic>
        <p:nvPicPr>
          <p:cNvPr id="2" name="Picture 1" descr="A screenshot of a computer program&#10;&#10;AI-generated content may be incorrect.">
            <a:extLst>
              <a:ext uri="{FF2B5EF4-FFF2-40B4-BE49-F238E27FC236}">
                <a16:creationId xmlns:a16="http://schemas.microsoft.com/office/drawing/2014/main" id="{8E2E514D-EE32-C8A1-2862-C09C0334D860}"/>
              </a:ext>
            </a:extLst>
          </p:cNvPr>
          <p:cNvPicPr>
            <a:picLocks noChangeAspect="1"/>
          </p:cNvPicPr>
          <p:nvPr/>
        </p:nvPicPr>
        <p:blipFill>
          <a:blip r:embed="rId4"/>
          <a:stretch>
            <a:fillRect/>
          </a:stretch>
        </p:blipFill>
        <p:spPr>
          <a:xfrm>
            <a:off x="3858896" y="4475747"/>
            <a:ext cx="6442559" cy="3577523"/>
          </a:xfrm>
          <a:prstGeom prst="rect">
            <a:avLst/>
          </a:prstGeom>
        </p:spPr>
      </p:pic>
    </p:spTree>
    <p:extLst>
      <p:ext uri="{BB962C8B-B14F-4D97-AF65-F5344CB8AC3E}">
        <p14:creationId xmlns:p14="http://schemas.microsoft.com/office/powerpoint/2010/main" val="1962363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E5FD07-D267-71B5-0BBD-B322D291ACB9}"/>
              </a:ext>
            </a:extLst>
          </p:cNvPr>
          <p:cNvPicPr>
            <a:picLocks noChangeAspect="1"/>
          </p:cNvPicPr>
          <p:nvPr/>
        </p:nvPicPr>
        <p:blipFill>
          <a:blip r:embed="rId3"/>
          <a:stretch>
            <a:fillRect/>
          </a:stretch>
        </p:blipFill>
        <p:spPr>
          <a:xfrm>
            <a:off x="12100341" y="7802991"/>
            <a:ext cx="2530059" cy="426609"/>
          </a:xfrm>
          <a:prstGeom prst="rect">
            <a:avLst/>
          </a:prstGeom>
        </p:spPr>
      </p:pic>
      <p:sp>
        <p:nvSpPr>
          <p:cNvPr id="4" name="TextBox 3">
            <a:extLst>
              <a:ext uri="{FF2B5EF4-FFF2-40B4-BE49-F238E27FC236}">
                <a16:creationId xmlns:a16="http://schemas.microsoft.com/office/drawing/2014/main" id="{F7BC875F-EA38-F4F8-1A51-F32A74B1D1A3}"/>
              </a:ext>
            </a:extLst>
          </p:cNvPr>
          <p:cNvSpPr txBox="1"/>
          <p:nvPr/>
        </p:nvSpPr>
        <p:spPr>
          <a:xfrm>
            <a:off x="348916" y="457200"/>
            <a:ext cx="13980695" cy="2154436"/>
          </a:xfrm>
          <a:prstGeom prst="rect">
            <a:avLst/>
          </a:prstGeom>
          <a:noFill/>
        </p:spPr>
        <p:txBody>
          <a:bodyPr wrap="square" rtlCol="0">
            <a:spAutoFit/>
          </a:bodyPr>
          <a:lstStyle/>
          <a:p>
            <a:r>
              <a:rPr lang="en-IN" sz="3600" b="1">
                <a:solidFill>
                  <a:schemeClr val="bg1"/>
                </a:solidFill>
              </a:rPr>
              <a:t>Implementation</a:t>
            </a:r>
          </a:p>
          <a:p>
            <a:endParaRPr lang="en-IN" sz="3400" b="1">
              <a:solidFill>
                <a:schemeClr val="bg1"/>
              </a:solidFill>
            </a:endParaRPr>
          </a:p>
          <a:p>
            <a:r>
              <a:rPr lang="en-IN" sz="3200" b="1">
                <a:solidFill>
                  <a:schemeClr val="bg1"/>
                </a:solidFill>
              </a:rPr>
              <a:t>Technology Stack :</a:t>
            </a:r>
            <a:endParaRPr lang="en-IN" sz="3200">
              <a:solidFill>
                <a:schemeClr val="bg1"/>
              </a:solidFill>
            </a:endParaRPr>
          </a:p>
          <a:p>
            <a:endParaRPr lang="en-IN" sz="3200">
              <a:solidFill>
                <a:schemeClr val="bg1"/>
              </a:solidFill>
            </a:endParaRPr>
          </a:p>
        </p:txBody>
      </p:sp>
      <p:graphicFrame>
        <p:nvGraphicFramePr>
          <p:cNvPr id="6" name="Table 5">
            <a:extLst>
              <a:ext uri="{FF2B5EF4-FFF2-40B4-BE49-F238E27FC236}">
                <a16:creationId xmlns:a16="http://schemas.microsoft.com/office/drawing/2014/main" id="{E215F98E-7853-1EE5-08FC-3D77D9D12483}"/>
              </a:ext>
            </a:extLst>
          </p:cNvPr>
          <p:cNvGraphicFramePr>
            <a:graphicFrameLocks noGrp="1"/>
          </p:cNvGraphicFramePr>
          <p:nvPr>
            <p:extLst>
              <p:ext uri="{D42A27DB-BD31-4B8C-83A1-F6EECF244321}">
                <p14:modId xmlns:p14="http://schemas.microsoft.com/office/powerpoint/2010/main" val="3451676637"/>
              </p:ext>
            </p:extLst>
          </p:nvPr>
        </p:nvGraphicFramePr>
        <p:xfrm>
          <a:off x="705851" y="3046819"/>
          <a:ext cx="12360444" cy="3720432"/>
        </p:xfrm>
        <a:graphic>
          <a:graphicData uri="http://schemas.openxmlformats.org/drawingml/2006/table">
            <a:tbl>
              <a:tblPr firstRow="1" bandRow="1">
                <a:tableStyleId>{5C22544A-7EE6-4342-B048-85BDC9FD1C3A}</a:tableStyleId>
              </a:tblPr>
              <a:tblGrid>
                <a:gridCol w="6180222">
                  <a:extLst>
                    <a:ext uri="{9D8B030D-6E8A-4147-A177-3AD203B41FA5}">
                      <a16:colId xmlns:a16="http://schemas.microsoft.com/office/drawing/2014/main" val="2892753089"/>
                    </a:ext>
                  </a:extLst>
                </a:gridCol>
                <a:gridCol w="6180222">
                  <a:extLst>
                    <a:ext uri="{9D8B030D-6E8A-4147-A177-3AD203B41FA5}">
                      <a16:colId xmlns:a16="http://schemas.microsoft.com/office/drawing/2014/main" val="936477858"/>
                    </a:ext>
                  </a:extLst>
                </a:gridCol>
              </a:tblGrid>
              <a:tr h="620072">
                <a:tc>
                  <a:txBody>
                    <a:bodyPr/>
                    <a:lstStyle/>
                    <a:p>
                      <a:pPr>
                        <a:buNone/>
                      </a:pPr>
                      <a:r>
                        <a:rPr lang="en-IN" sz="2800">
                          <a:solidFill>
                            <a:schemeClr val="tx1"/>
                          </a:solidFill>
                        </a:rPr>
                        <a:t>Component</a:t>
                      </a:r>
                    </a:p>
                  </a:txBody>
                  <a:tcPr anchor="ctr"/>
                </a:tc>
                <a:tc>
                  <a:txBody>
                    <a:bodyPr/>
                    <a:lstStyle/>
                    <a:p>
                      <a:pPr>
                        <a:buNone/>
                      </a:pPr>
                      <a:r>
                        <a:rPr lang="en-IN" sz="2800">
                          <a:solidFill>
                            <a:schemeClr val="tx1"/>
                          </a:solidFill>
                        </a:rPr>
                        <a:t>Technology</a:t>
                      </a:r>
                    </a:p>
                  </a:txBody>
                  <a:tcPr anchor="ctr"/>
                </a:tc>
                <a:extLst>
                  <a:ext uri="{0D108BD9-81ED-4DB2-BD59-A6C34878D82A}">
                    <a16:rowId xmlns:a16="http://schemas.microsoft.com/office/drawing/2014/main" val="1067370339"/>
                  </a:ext>
                </a:extLst>
              </a:tr>
              <a:tr h="620072">
                <a:tc>
                  <a:txBody>
                    <a:bodyPr/>
                    <a:lstStyle/>
                    <a:p>
                      <a:pPr>
                        <a:buNone/>
                      </a:pPr>
                      <a:r>
                        <a:rPr lang="en-IN" sz="2800">
                          <a:solidFill>
                            <a:schemeClr val="tx1"/>
                          </a:solidFill>
                        </a:rPr>
                        <a:t>Backend</a:t>
                      </a:r>
                    </a:p>
                  </a:txBody>
                  <a:tcPr anchor="ctr"/>
                </a:tc>
                <a:tc>
                  <a:txBody>
                    <a:bodyPr/>
                    <a:lstStyle/>
                    <a:p>
                      <a:pPr>
                        <a:buNone/>
                      </a:pPr>
                      <a:r>
                        <a:rPr lang="en-IN" sz="2800">
                          <a:solidFill>
                            <a:schemeClr val="tx1"/>
                          </a:solidFill>
                        </a:rPr>
                        <a:t>Python (Flask)</a:t>
                      </a:r>
                    </a:p>
                  </a:txBody>
                  <a:tcPr anchor="ctr"/>
                </a:tc>
                <a:extLst>
                  <a:ext uri="{0D108BD9-81ED-4DB2-BD59-A6C34878D82A}">
                    <a16:rowId xmlns:a16="http://schemas.microsoft.com/office/drawing/2014/main" val="1336927651"/>
                  </a:ext>
                </a:extLst>
              </a:tr>
              <a:tr h="620072">
                <a:tc>
                  <a:txBody>
                    <a:bodyPr/>
                    <a:lstStyle/>
                    <a:p>
                      <a:pPr>
                        <a:buNone/>
                      </a:pPr>
                      <a:r>
                        <a:rPr lang="en-IN" sz="2800">
                          <a:solidFill>
                            <a:schemeClr val="tx1"/>
                          </a:solidFill>
                        </a:rPr>
                        <a:t>Database</a:t>
                      </a:r>
                    </a:p>
                  </a:txBody>
                  <a:tcPr anchor="ctr"/>
                </a:tc>
                <a:tc>
                  <a:txBody>
                    <a:bodyPr/>
                    <a:lstStyle/>
                    <a:p>
                      <a:pPr>
                        <a:buNone/>
                      </a:pPr>
                      <a:r>
                        <a:rPr lang="en-IN" sz="2800">
                          <a:solidFill>
                            <a:schemeClr val="tx1"/>
                          </a:solidFill>
                        </a:rPr>
                        <a:t>SQLite</a:t>
                      </a:r>
                    </a:p>
                  </a:txBody>
                  <a:tcPr anchor="ctr"/>
                </a:tc>
                <a:extLst>
                  <a:ext uri="{0D108BD9-81ED-4DB2-BD59-A6C34878D82A}">
                    <a16:rowId xmlns:a16="http://schemas.microsoft.com/office/drawing/2014/main" val="1077100069"/>
                  </a:ext>
                </a:extLst>
              </a:tr>
              <a:tr h="620072">
                <a:tc>
                  <a:txBody>
                    <a:bodyPr/>
                    <a:lstStyle/>
                    <a:p>
                      <a:pPr>
                        <a:buNone/>
                      </a:pPr>
                      <a:r>
                        <a:rPr lang="en-IN" sz="2800">
                          <a:solidFill>
                            <a:schemeClr val="tx1"/>
                          </a:solidFill>
                        </a:rPr>
                        <a:t>Frontend</a:t>
                      </a:r>
                    </a:p>
                  </a:txBody>
                  <a:tcPr anchor="ctr"/>
                </a:tc>
                <a:tc>
                  <a:txBody>
                    <a:bodyPr/>
                    <a:lstStyle/>
                    <a:p>
                      <a:pPr>
                        <a:buNone/>
                      </a:pPr>
                      <a:r>
                        <a:rPr lang="en-IN" sz="2800" dirty="0">
                          <a:solidFill>
                            <a:schemeClr val="tx1"/>
                          </a:solidFill>
                        </a:rPr>
                        <a:t>HTML, CSS</a:t>
                      </a:r>
                    </a:p>
                  </a:txBody>
                  <a:tcPr anchor="ctr"/>
                </a:tc>
                <a:extLst>
                  <a:ext uri="{0D108BD9-81ED-4DB2-BD59-A6C34878D82A}">
                    <a16:rowId xmlns:a16="http://schemas.microsoft.com/office/drawing/2014/main" val="3075782582"/>
                  </a:ext>
                </a:extLst>
              </a:tr>
              <a:tr h="620072">
                <a:tc>
                  <a:txBody>
                    <a:bodyPr/>
                    <a:lstStyle/>
                    <a:p>
                      <a:pPr>
                        <a:buNone/>
                      </a:pPr>
                      <a:r>
                        <a:rPr lang="en-IN" sz="2800">
                          <a:solidFill>
                            <a:schemeClr val="tx1"/>
                          </a:solidFill>
                        </a:rPr>
                        <a:t>Libraries</a:t>
                      </a:r>
                    </a:p>
                  </a:txBody>
                  <a:tcPr anchor="ctr"/>
                </a:tc>
                <a:tc>
                  <a:txBody>
                    <a:bodyPr/>
                    <a:lstStyle/>
                    <a:p>
                      <a:pPr>
                        <a:buNone/>
                      </a:pPr>
                      <a:r>
                        <a:rPr lang="en-IN" sz="2800" dirty="0">
                          <a:solidFill>
                            <a:schemeClr val="tx1"/>
                          </a:solidFill>
                        </a:rPr>
                        <a:t>Pandas, </a:t>
                      </a:r>
                      <a:r>
                        <a:rPr lang="en-IN" sz="2800" dirty="0" err="1">
                          <a:solidFill>
                            <a:schemeClr val="tx1"/>
                          </a:solidFill>
                        </a:rPr>
                        <a:t>OpenPyXL</a:t>
                      </a:r>
                      <a:r>
                        <a:rPr lang="en-IN" sz="2800" dirty="0">
                          <a:solidFill>
                            <a:schemeClr val="tx1"/>
                          </a:solidFill>
                        </a:rPr>
                        <a:t> etc.</a:t>
                      </a:r>
                    </a:p>
                  </a:txBody>
                  <a:tcPr anchor="ctr"/>
                </a:tc>
                <a:extLst>
                  <a:ext uri="{0D108BD9-81ED-4DB2-BD59-A6C34878D82A}">
                    <a16:rowId xmlns:a16="http://schemas.microsoft.com/office/drawing/2014/main" val="1595422587"/>
                  </a:ext>
                </a:extLst>
              </a:tr>
              <a:tr h="620072">
                <a:tc>
                  <a:txBody>
                    <a:bodyPr/>
                    <a:lstStyle/>
                    <a:p>
                      <a:pPr>
                        <a:buNone/>
                      </a:pPr>
                      <a:r>
                        <a:rPr lang="en-IN" sz="2800">
                          <a:solidFill>
                            <a:schemeClr val="tx1"/>
                          </a:solidFill>
                        </a:rPr>
                        <a:t>Output</a:t>
                      </a:r>
                    </a:p>
                  </a:txBody>
                  <a:tcPr anchor="ctr"/>
                </a:tc>
                <a:tc>
                  <a:txBody>
                    <a:bodyPr/>
                    <a:lstStyle/>
                    <a:p>
                      <a:pPr>
                        <a:buNone/>
                      </a:pPr>
                      <a:r>
                        <a:rPr lang="en-IN" sz="2800">
                          <a:solidFill>
                            <a:schemeClr val="tx1"/>
                          </a:solidFill>
                        </a:rPr>
                        <a:t>Auto-generated </a:t>
                      </a:r>
                      <a:r>
                        <a:rPr lang="en-IN" sz="2800" dirty="0">
                          <a:solidFill>
                            <a:schemeClr val="tx1"/>
                          </a:solidFill>
                        </a:rPr>
                        <a:t>reports</a:t>
                      </a:r>
                    </a:p>
                  </a:txBody>
                  <a:tcPr anchor="ctr"/>
                </a:tc>
                <a:extLst>
                  <a:ext uri="{0D108BD9-81ED-4DB2-BD59-A6C34878D82A}">
                    <a16:rowId xmlns:a16="http://schemas.microsoft.com/office/drawing/2014/main" val="717821163"/>
                  </a:ext>
                </a:extLst>
              </a:tr>
            </a:tbl>
          </a:graphicData>
        </a:graphic>
      </p:graphicFrame>
    </p:spTree>
    <p:extLst>
      <p:ext uri="{BB962C8B-B14F-4D97-AF65-F5344CB8AC3E}">
        <p14:creationId xmlns:p14="http://schemas.microsoft.com/office/powerpoint/2010/main" val="3125811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E6C74A-56F3-E077-7E9D-49780437BA93}"/>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3" name="Picture 2">
            <a:extLst>
              <a:ext uri="{FF2B5EF4-FFF2-40B4-BE49-F238E27FC236}">
                <a16:creationId xmlns:a16="http://schemas.microsoft.com/office/drawing/2014/main" id="{8345EA6B-4F61-E408-D5BA-D7A4D3696901}"/>
              </a:ext>
            </a:extLst>
          </p:cNvPr>
          <p:cNvPicPr>
            <a:picLocks noChangeAspect="1"/>
          </p:cNvPicPr>
          <p:nvPr/>
        </p:nvPicPr>
        <p:blipFill>
          <a:blip r:embed="rId3"/>
          <a:stretch>
            <a:fillRect/>
          </a:stretch>
        </p:blipFill>
        <p:spPr>
          <a:xfrm>
            <a:off x="649355" y="490331"/>
            <a:ext cx="13331689" cy="7248940"/>
          </a:xfrm>
          <a:prstGeom prst="rect">
            <a:avLst/>
          </a:prstGeom>
        </p:spPr>
      </p:pic>
    </p:spTree>
    <p:extLst>
      <p:ext uri="{BB962C8B-B14F-4D97-AF65-F5344CB8AC3E}">
        <p14:creationId xmlns:p14="http://schemas.microsoft.com/office/powerpoint/2010/main" val="2701266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B700F47-79A0-2BE2-9F65-D467505D9259}"/>
              </a:ext>
            </a:extLst>
          </p:cNvPr>
          <p:cNvPicPr>
            <a:picLocks noChangeAspect="1"/>
          </p:cNvPicPr>
          <p:nvPr/>
        </p:nvPicPr>
        <p:blipFill>
          <a:blip r:embed="rId2"/>
          <a:stretch>
            <a:fillRect/>
          </a:stretch>
        </p:blipFill>
        <p:spPr>
          <a:xfrm>
            <a:off x="1727152" y="988199"/>
            <a:ext cx="11003818" cy="6173689"/>
          </a:xfrm>
          <a:prstGeom prst="rect">
            <a:avLst/>
          </a:prstGeom>
        </p:spPr>
      </p:pic>
      <p:pic>
        <p:nvPicPr>
          <p:cNvPr id="6" name="Picture 5">
            <a:extLst>
              <a:ext uri="{FF2B5EF4-FFF2-40B4-BE49-F238E27FC236}">
                <a16:creationId xmlns:a16="http://schemas.microsoft.com/office/drawing/2014/main" id="{10B6D280-2B2C-8A8D-49FF-A2EC3EBC62ED}"/>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1978610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185CE3-7179-B06D-DB06-CED101B78BF0}"/>
              </a:ext>
            </a:extLst>
          </p:cNvPr>
          <p:cNvPicPr>
            <a:picLocks noChangeAspect="1"/>
          </p:cNvPicPr>
          <p:nvPr/>
        </p:nvPicPr>
        <p:blipFill>
          <a:blip r:embed="rId2"/>
          <a:stretch>
            <a:fillRect/>
          </a:stretch>
        </p:blipFill>
        <p:spPr>
          <a:xfrm>
            <a:off x="1903240" y="950431"/>
            <a:ext cx="10823919" cy="6196215"/>
          </a:xfrm>
          <a:prstGeom prst="rect">
            <a:avLst/>
          </a:prstGeom>
        </p:spPr>
      </p:pic>
      <p:pic>
        <p:nvPicPr>
          <p:cNvPr id="4" name="Picture 3">
            <a:extLst>
              <a:ext uri="{FF2B5EF4-FFF2-40B4-BE49-F238E27FC236}">
                <a16:creationId xmlns:a16="http://schemas.microsoft.com/office/drawing/2014/main" id="{A4B72B86-FA9B-49C4-7B30-4D394B148752}"/>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865340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3C6B69-F4CB-6D35-D943-0731327A9C48}"/>
              </a:ext>
            </a:extLst>
          </p:cNvPr>
          <p:cNvPicPr>
            <a:picLocks noChangeAspect="1"/>
          </p:cNvPicPr>
          <p:nvPr/>
        </p:nvPicPr>
        <p:blipFill>
          <a:blip r:embed="rId2"/>
          <a:stretch>
            <a:fillRect/>
          </a:stretch>
        </p:blipFill>
        <p:spPr>
          <a:xfrm>
            <a:off x="1903240" y="922442"/>
            <a:ext cx="10770910" cy="6185933"/>
          </a:xfrm>
          <a:prstGeom prst="rect">
            <a:avLst/>
          </a:prstGeom>
        </p:spPr>
      </p:pic>
      <p:pic>
        <p:nvPicPr>
          <p:cNvPr id="4" name="Picture 3">
            <a:extLst>
              <a:ext uri="{FF2B5EF4-FFF2-40B4-BE49-F238E27FC236}">
                <a16:creationId xmlns:a16="http://schemas.microsoft.com/office/drawing/2014/main" id="{015E5A34-4A36-17A7-ED62-11A2E779FEE9}"/>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4057570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64C0CB-C6AD-C3F7-2519-D20B34F901DE}"/>
              </a:ext>
            </a:extLst>
          </p:cNvPr>
          <p:cNvPicPr>
            <a:picLocks noChangeAspect="1"/>
          </p:cNvPicPr>
          <p:nvPr/>
        </p:nvPicPr>
        <p:blipFill>
          <a:blip r:embed="rId2"/>
          <a:stretch>
            <a:fillRect/>
          </a:stretch>
        </p:blipFill>
        <p:spPr>
          <a:xfrm>
            <a:off x="12100341" y="7802991"/>
            <a:ext cx="2530059" cy="426609"/>
          </a:xfrm>
          <a:prstGeom prst="rect">
            <a:avLst/>
          </a:prstGeom>
        </p:spPr>
      </p:pic>
      <p:sp>
        <p:nvSpPr>
          <p:cNvPr id="3" name="TextBox 2">
            <a:extLst>
              <a:ext uri="{FF2B5EF4-FFF2-40B4-BE49-F238E27FC236}">
                <a16:creationId xmlns:a16="http://schemas.microsoft.com/office/drawing/2014/main" id="{0F9F7112-F8E6-C790-4F51-8960FAE32711}"/>
              </a:ext>
            </a:extLst>
          </p:cNvPr>
          <p:cNvSpPr txBox="1"/>
          <p:nvPr/>
        </p:nvSpPr>
        <p:spPr>
          <a:xfrm>
            <a:off x="609600" y="422031"/>
            <a:ext cx="8639908" cy="584775"/>
          </a:xfrm>
          <a:prstGeom prst="rect">
            <a:avLst/>
          </a:prstGeom>
          <a:noFill/>
        </p:spPr>
        <p:txBody>
          <a:bodyPr wrap="square" rtlCol="0">
            <a:spAutoFit/>
          </a:bodyPr>
          <a:lstStyle/>
          <a:p>
            <a:r>
              <a:rPr lang="en-IN" sz="3200" b="1" dirty="0">
                <a:solidFill>
                  <a:schemeClr val="bg1"/>
                </a:solidFill>
              </a:rPr>
              <a:t>Input Data  :</a:t>
            </a:r>
          </a:p>
        </p:txBody>
      </p:sp>
      <p:pic>
        <p:nvPicPr>
          <p:cNvPr id="6" name="Picture 5" descr="A screenshot of a computer&#10;&#10;AI-generated content may be incorrect.">
            <a:extLst>
              <a:ext uri="{FF2B5EF4-FFF2-40B4-BE49-F238E27FC236}">
                <a16:creationId xmlns:a16="http://schemas.microsoft.com/office/drawing/2014/main" id="{DBFBC29C-416C-DA06-16A5-5B5FBC329357}"/>
              </a:ext>
            </a:extLst>
          </p:cNvPr>
          <p:cNvPicPr>
            <a:picLocks noChangeAspect="1"/>
          </p:cNvPicPr>
          <p:nvPr/>
        </p:nvPicPr>
        <p:blipFill>
          <a:blip r:embed="rId3"/>
          <a:stretch>
            <a:fillRect/>
          </a:stretch>
        </p:blipFill>
        <p:spPr>
          <a:xfrm>
            <a:off x="609600" y="1840832"/>
            <a:ext cx="13310937" cy="4475747"/>
          </a:xfrm>
          <a:prstGeom prst="rect">
            <a:avLst/>
          </a:prstGeom>
        </p:spPr>
      </p:pic>
    </p:spTree>
    <p:extLst>
      <p:ext uri="{BB962C8B-B14F-4D97-AF65-F5344CB8AC3E}">
        <p14:creationId xmlns:p14="http://schemas.microsoft.com/office/powerpoint/2010/main" val="1316738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1CEE7E-0B1B-18F5-4F73-5B0033086661}"/>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5" name="Picture 4" descr="A close-up of a computer screen&#10;&#10;AI-generated content may be incorrect.">
            <a:extLst>
              <a:ext uri="{FF2B5EF4-FFF2-40B4-BE49-F238E27FC236}">
                <a16:creationId xmlns:a16="http://schemas.microsoft.com/office/drawing/2014/main" id="{032DB08C-1172-0938-B18B-AD05A26B1560}"/>
              </a:ext>
            </a:extLst>
          </p:cNvPr>
          <p:cNvPicPr>
            <a:picLocks noChangeAspect="1"/>
          </p:cNvPicPr>
          <p:nvPr/>
        </p:nvPicPr>
        <p:blipFill>
          <a:blip r:embed="rId3"/>
          <a:stretch>
            <a:fillRect/>
          </a:stretch>
        </p:blipFill>
        <p:spPr>
          <a:xfrm>
            <a:off x="915637" y="1516052"/>
            <a:ext cx="12511605" cy="5293822"/>
          </a:xfrm>
          <a:prstGeom prst="rect">
            <a:avLst/>
          </a:prstGeom>
        </p:spPr>
      </p:pic>
    </p:spTree>
    <p:extLst>
      <p:ext uri="{BB962C8B-B14F-4D97-AF65-F5344CB8AC3E}">
        <p14:creationId xmlns:p14="http://schemas.microsoft.com/office/powerpoint/2010/main" val="727649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A91B1B-B419-6A86-A635-EECE2BB13E46}"/>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8C0E5B1-307E-4E55-DB80-8AB3E71228C0}"/>
              </a:ext>
            </a:extLst>
          </p:cNvPr>
          <p:cNvPicPr>
            <a:picLocks noChangeAspect="1"/>
          </p:cNvPicPr>
          <p:nvPr/>
        </p:nvPicPr>
        <p:blipFill>
          <a:blip r:embed="rId3"/>
          <a:stretch>
            <a:fillRect/>
          </a:stretch>
        </p:blipFill>
        <p:spPr>
          <a:xfrm>
            <a:off x="2490538" y="278359"/>
            <a:ext cx="9107904" cy="7721010"/>
          </a:xfrm>
          <a:prstGeom prst="rect">
            <a:avLst/>
          </a:prstGeom>
        </p:spPr>
      </p:pic>
    </p:spTree>
    <p:extLst>
      <p:ext uri="{BB962C8B-B14F-4D97-AF65-F5344CB8AC3E}">
        <p14:creationId xmlns:p14="http://schemas.microsoft.com/office/powerpoint/2010/main" val="2534333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DCDDDA-916E-C05D-10CD-C2CB6FA60210}"/>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78680EE-A7EB-0105-1CF4-42436C7D796C}"/>
              </a:ext>
            </a:extLst>
          </p:cNvPr>
          <p:cNvPicPr>
            <a:picLocks noChangeAspect="1"/>
          </p:cNvPicPr>
          <p:nvPr/>
        </p:nvPicPr>
        <p:blipFill>
          <a:blip r:embed="rId3"/>
          <a:stretch>
            <a:fillRect/>
          </a:stretch>
        </p:blipFill>
        <p:spPr>
          <a:xfrm>
            <a:off x="2622885" y="336884"/>
            <a:ext cx="9192126" cy="7555832"/>
          </a:xfrm>
          <a:prstGeom prst="rect">
            <a:avLst/>
          </a:prstGeom>
        </p:spPr>
      </p:pic>
    </p:spTree>
    <p:extLst>
      <p:ext uri="{BB962C8B-B14F-4D97-AF65-F5344CB8AC3E}">
        <p14:creationId xmlns:p14="http://schemas.microsoft.com/office/powerpoint/2010/main" val="2425458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F50078-FFF3-A07D-D0F7-2B832AFD3B20}"/>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AB062936-BF09-AC6C-4B77-629CCBCF18D3}"/>
              </a:ext>
            </a:extLst>
          </p:cNvPr>
          <p:cNvPicPr>
            <a:picLocks noChangeAspect="1"/>
          </p:cNvPicPr>
          <p:nvPr/>
        </p:nvPicPr>
        <p:blipFill>
          <a:blip r:embed="rId3"/>
          <a:stretch>
            <a:fillRect/>
          </a:stretch>
        </p:blipFill>
        <p:spPr>
          <a:xfrm>
            <a:off x="2322094" y="180473"/>
            <a:ext cx="9901989" cy="7868653"/>
          </a:xfrm>
          <a:prstGeom prst="rect">
            <a:avLst/>
          </a:prstGeom>
        </p:spPr>
      </p:pic>
    </p:spTree>
    <p:extLst>
      <p:ext uri="{BB962C8B-B14F-4D97-AF65-F5344CB8AC3E}">
        <p14:creationId xmlns:p14="http://schemas.microsoft.com/office/powerpoint/2010/main" val="3090010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6C4B7F1-045C-C268-9B9D-074B690C4AB0}"/>
              </a:ext>
            </a:extLst>
          </p:cNvPr>
          <p:cNvPicPr>
            <a:picLocks noChangeAspect="1"/>
          </p:cNvPicPr>
          <p:nvPr/>
        </p:nvPicPr>
        <p:blipFill>
          <a:blip r:embed="rId2"/>
          <a:stretch>
            <a:fillRect/>
          </a:stretch>
        </p:blipFill>
        <p:spPr>
          <a:xfrm>
            <a:off x="3403479" y="222584"/>
            <a:ext cx="7606871" cy="7784432"/>
          </a:xfrm>
          <a:prstGeom prst="rect">
            <a:avLst/>
          </a:prstGeom>
        </p:spPr>
      </p:pic>
      <p:pic>
        <p:nvPicPr>
          <p:cNvPr id="4" name="Picture 3">
            <a:extLst>
              <a:ext uri="{FF2B5EF4-FFF2-40B4-BE49-F238E27FC236}">
                <a16:creationId xmlns:a16="http://schemas.microsoft.com/office/drawing/2014/main" id="{97CCF093-DFFE-C930-C3A7-B13C738998A1}"/>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2767163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3015C86-444D-89C3-7875-7F40A7B97986}"/>
              </a:ext>
            </a:extLst>
          </p:cNvPr>
          <p:cNvPicPr>
            <a:picLocks noChangeAspect="1"/>
          </p:cNvPicPr>
          <p:nvPr/>
        </p:nvPicPr>
        <p:blipFill>
          <a:blip r:embed="rId2"/>
          <a:stretch>
            <a:fillRect/>
          </a:stretch>
        </p:blipFill>
        <p:spPr>
          <a:xfrm>
            <a:off x="927807" y="342900"/>
            <a:ext cx="12774785" cy="7543800"/>
          </a:xfrm>
          <a:prstGeom prst="rect">
            <a:avLst/>
          </a:prstGeom>
        </p:spPr>
      </p:pic>
      <p:pic>
        <p:nvPicPr>
          <p:cNvPr id="4" name="Picture 3">
            <a:extLst>
              <a:ext uri="{FF2B5EF4-FFF2-40B4-BE49-F238E27FC236}">
                <a16:creationId xmlns:a16="http://schemas.microsoft.com/office/drawing/2014/main" id="{449A6024-B37C-7AB4-0046-A396E887EBBB}"/>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3804282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06FDFA-589B-2DAB-95BD-62F98117271B}"/>
              </a:ext>
            </a:extLst>
          </p:cNvPr>
          <p:cNvSpPr txBox="1"/>
          <p:nvPr/>
        </p:nvSpPr>
        <p:spPr>
          <a:xfrm>
            <a:off x="336884" y="168442"/>
            <a:ext cx="13691937" cy="7504490"/>
          </a:xfrm>
          <a:prstGeom prst="rect">
            <a:avLst/>
          </a:prstGeom>
          <a:noFill/>
        </p:spPr>
        <p:txBody>
          <a:bodyPr wrap="square" rtlCol="0">
            <a:spAutoFit/>
          </a:bodyPr>
          <a:lstStyle/>
          <a:p>
            <a:pPr>
              <a:lnSpc>
                <a:spcPct val="150000"/>
              </a:lnSpc>
            </a:pPr>
            <a:r>
              <a:rPr lang="en-US" sz="3600" b="1" dirty="0">
                <a:solidFill>
                  <a:schemeClr val="bg1"/>
                </a:solidFill>
              </a:rPr>
              <a:t>Conclusion and Future Scope </a:t>
            </a:r>
          </a:p>
          <a:p>
            <a:pPr>
              <a:lnSpc>
                <a:spcPct val="150000"/>
              </a:lnSpc>
            </a:pPr>
            <a:r>
              <a:rPr lang="en-US" sz="3200" b="1" dirty="0">
                <a:solidFill>
                  <a:schemeClr val="bg1"/>
                </a:solidFill>
              </a:rPr>
              <a:t>Conclusion :</a:t>
            </a:r>
            <a:endParaRPr lang="en-US" sz="3200" dirty="0">
              <a:solidFill>
                <a:schemeClr val="bg1"/>
              </a:solidFill>
            </a:endParaRPr>
          </a:p>
          <a:p>
            <a:pPr marL="457200" indent="-457200">
              <a:lnSpc>
                <a:spcPct val="150000"/>
              </a:lnSpc>
              <a:buFont typeface="Arial" panose="020B0604020202020204" pitchFamily="34" charset="0"/>
              <a:buChar char="•"/>
            </a:pPr>
            <a:r>
              <a:rPr lang="en-US" sz="2800" dirty="0">
                <a:solidFill>
                  <a:schemeClr val="bg1"/>
                </a:solidFill>
              </a:rPr>
              <a:t> automates project evaluation and documentation efficiently.</a:t>
            </a:r>
          </a:p>
          <a:p>
            <a:pPr marL="457200" indent="-457200">
              <a:lnSpc>
                <a:spcPct val="150000"/>
              </a:lnSpc>
              <a:buFont typeface="Arial" panose="020B0604020202020204" pitchFamily="34" charset="0"/>
              <a:buChar char="•"/>
            </a:pPr>
            <a:r>
              <a:rPr lang="en-US" sz="2800" dirty="0">
                <a:solidFill>
                  <a:schemeClr val="bg1"/>
                </a:solidFill>
              </a:rPr>
              <a:t>Current features include marks computation, report generation, and record management.</a:t>
            </a:r>
          </a:p>
          <a:p>
            <a:pPr marL="457200" indent="-457200">
              <a:lnSpc>
                <a:spcPct val="150000"/>
              </a:lnSpc>
              <a:buFont typeface="Arial" panose="020B0604020202020204" pitchFamily="34" charset="0"/>
              <a:buChar char="•"/>
            </a:pPr>
            <a:r>
              <a:rPr lang="en-US" sz="2800" dirty="0">
                <a:solidFill>
                  <a:schemeClr val="bg1"/>
                </a:solidFill>
              </a:rPr>
              <a:t>Reduces manual work and ensures fair evaluation.</a:t>
            </a:r>
          </a:p>
          <a:p>
            <a:pPr>
              <a:lnSpc>
                <a:spcPct val="150000"/>
              </a:lnSpc>
            </a:pPr>
            <a:r>
              <a:rPr lang="en-US" sz="3200" b="1" dirty="0">
                <a:solidFill>
                  <a:schemeClr val="bg1"/>
                </a:solidFill>
              </a:rPr>
              <a:t>Future Scope :</a:t>
            </a:r>
            <a:endParaRPr lang="en-US" sz="3200" dirty="0">
              <a:solidFill>
                <a:schemeClr val="bg1"/>
              </a:solidFill>
            </a:endParaRPr>
          </a:p>
          <a:p>
            <a:pPr marL="457200" indent="-457200">
              <a:lnSpc>
                <a:spcPct val="150000"/>
              </a:lnSpc>
              <a:buFont typeface="Arial" panose="020B0604020202020204" pitchFamily="34" charset="0"/>
              <a:buChar char="•"/>
            </a:pPr>
            <a:r>
              <a:rPr lang="en-US" sz="2800" dirty="0">
                <a:solidFill>
                  <a:schemeClr val="bg1"/>
                </a:solidFill>
              </a:rPr>
              <a:t>Automatic guide assignment based on project domain and guide expertise.</a:t>
            </a:r>
          </a:p>
          <a:p>
            <a:pPr marL="457200" indent="-457200">
              <a:lnSpc>
                <a:spcPct val="150000"/>
              </a:lnSpc>
              <a:buFont typeface="Arial" panose="020B0604020202020204" pitchFamily="34" charset="0"/>
              <a:buChar char="•"/>
            </a:pPr>
            <a:r>
              <a:rPr lang="en-US" sz="2800" dirty="0">
                <a:solidFill>
                  <a:schemeClr val="bg1"/>
                </a:solidFill>
              </a:rPr>
              <a:t>Bulk download of all student reports.</a:t>
            </a:r>
          </a:p>
          <a:p>
            <a:pPr marL="457200" indent="-457200">
              <a:lnSpc>
                <a:spcPct val="150000"/>
              </a:lnSpc>
              <a:buFont typeface="Arial" panose="020B0604020202020204" pitchFamily="34" charset="0"/>
              <a:buChar char="•"/>
            </a:pPr>
            <a:r>
              <a:rPr lang="en-US" sz="2800" dirty="0">
                <a:solidFill>
                  <a:schemeClr val="bg1"/>
                </a:solidFill>
              </a:rPr>
              <a:t>AI-assisted analysis for project topic trends.</a:t>
            </a:r>
          </a:p>
          <a:p>
            <a:pPr marL="457200" indent="-457200">
              <a:lnSpc>
                <a:spcPct val="150000"/>
              </a:lnSpc>
              <a:buFont typeface="Arial" panose="020B0604020202020204" pitchFamily="34" charset="0"/>
              <a:buChar char="•"/>
            </a:pPr>
            <a:r>
              <a:rPr lang="en-US" sz="2800" dirty="0">
                <a:solidFill>
                  <a:schemeClr val="bg1"/>
                </a:solidFill>
              </a:rPr>
              <a:t>Department-level analytics and reporting dashboards.</a:t>
            </a:r>
          </a:p>
          <a:p>
            <a:pPr>
              <a:lnSpc>
                <a:spcPct val="150000"/>
              </a:lnSpc>
            </a:pPr>
            <a:endParaRPr lang="en-IN" sz="2800" dirty="0">
              <a:solidFill>
                <a:schemeClr val="bg1"/>
              </a:solidFill>
            </a:endParaRPr>
          </a:p>
        </p:txBody>
      </p:sp>
      <p:pic>
        <p:nvPicPr>
          <p:cNvPr id="3" name="Picture 2">
            <a:extLst>
              <a:ext uri="{FF2B5EF4-FFF2-40B4-BE49-F238E27FC236}">
                <a16:creationId xmlns:a16="http://schemas.microsoft.com/office/drawing/2014/main" id="{B8EF8518-4445-6E2C-9A64-B33B1B6C37A7}"/>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123977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01410" y="629722"/>
            <a:ext cx="12392382" cy="6970633"/>
          </a:xfrm>
          <a:prstGeom prst="rect">
            <a:avLst/>
          </a:prstGeom>
        </p:spPr>
      </p:pic>
      <p:pic>
        <p:nvPicPr>
          <p:cNvPr id="3" name="Picture 2">
            <a:extLst>
              <a:ext uri="{FF2B5EF4-FFF2-40B4-BE49-F238E27FC236}">
                <a16:creationId xmlns:a16="http://schemas.microsoft.com/office/drawing/2014/main" id="{E756E534-D203-4C17-4074-2D96604D3F73}"/>
              </a:ext>
            </a:extLst>
          </p:cNvPr>
          <p:cNvPicPr>
            <a:picLocks noChangeAspect="1"/>
          </p:cNvPicPr>
          <p:nvPr/>
        </p:nvPicPr>
        <p:blipFill>
          <a:blip r:embed="rId4"/>
          <a:stretch>
            <a:fillRect/>
          </a:stretch>
        </p:blipFill>
        <p:spPr>
          <a:xfrm>
            <a:off x="12100341" y="7802991"/>
            <a:ext cx="2530059" cy="4266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D2DDF-0276-CA8A-8EE1-79178E43D5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B83C1B-F7BC-B1D9-2F77-DBD7C2DF25F3}"/>
              </a:ext>
            </a:extLst>
          </p:cNvPr>
          <p:cNvPicPr>
            <a:picLocks noChangeAspect="1"/>
          </p:cNvPicPr>
          <p:nvPr/>
        </p:nvPicPr>
        <p:blipFill>
          <a:blip r:embed="rId2"/>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1421035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379</TotalTime>
  <Words>1030</Words>
  <Application>Microsoft Office PowerPoint</Application>
  <PresentationFormat>Custom</PresentationFormat>
  <Paragraphs>179</Paragraphs>
  <Slides>27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Times New Roman</vt:lpstr>
      <vt:lpstr>Times New Roman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bhavanimathpati97@gmail.com</cp:lastModifiedBy>
  <cp:revision>8</cp:revision>
  <dcterms:created xsi:type="dcterms:W3CDTF">2025-04-08T18:18:42Z</dcterms:created>
  <dcterms:modified xsi:type="dcterms:W3CDTF">2026-01-09T08:31:16Z</dcterms:modified>
</cp:coreProperties>
</file>